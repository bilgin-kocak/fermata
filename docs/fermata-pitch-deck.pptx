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Bilgin Kocak, and this is Fermata. AI agents are starting to pay for APIs one call at a time. When the API fails, the agent has no way to get its money back. Fermata is the chargeback for machine payments, and it is decided on cryptographic evidence instead of a support ticket. We call it pay on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already pay for APIs per call, over MPP or x402. They pay before the answer arrives, and APIs fail: a 500, truncated JSON, or silence. Today a receipt only proves that the buyer paid. Nothing proves that the seller delivered, so the money is simply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Fermata holds the agent's payment in escrow on Tempo. TLSNotary records exactly what the vendor's server sent, and that record is checked against a delivery rule the vendor fixed on-chain in advance. If the check passes, the vendor is paid. If it proves a failure, or no proof arrives in time, the agent is refunded by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built natively on Tempo. Every hold, release and refund is a TIP-20 transfer whose memo is the call ID, so the books reconcile from chain logs alone. Holds take one transaction with a permit. Payment is a new MPP method, which the agent adds with its own allow-lists of escrows and verifiers, and every service is also a paid MCP tool for agents like Claude.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it works on Tempo's public testnet. The three canonical cases pass: release, proven-failure refund and timeout refund. A hundred paid calls against a vendor that fails about three percent of the time: ninety-six released, four refunded, zero errors, and no human touched anything. A proof takes about one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isn't tied to our mock vendor. Fermata proves the real public npm registry over the open internet: a real 200 released, npm's real 404 refunded. And a real Claude agent, given only Fermata's MCP server, bought two quotes, got refunded for the broken one, and verified the proof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it compares. Receipts prove only that the buyer paid, and any refund is at the service's discretion. Bursar does invoicing and never holds funds. Recourse needs the seller's own signature and a bonded dispute. ERC-8183 leaves evidence out of scope. Fermata's evidence comes from the vendor's own TLS session, so the vendor can't decline to sign, and the agent doesn't have to dispute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model is a half-percent fee on released payments, set on-chain, and nothing on refunds, so Fermata earns only when the vendor gets paid. First customers are API vendors already selling to agents. The wedge: chargeback-grade trust without building it, so agents can buy from vendors they've never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economics: one proof costs about a second and 66 megabytes of traffic, roughly six tenths of a cent, which is too much to spend on every one-cent call. So in production we prove a random five percent. That costs about three hundredths of a cent per call, and a vendor failing ten percent of calls is still caught with ninety-nine percent probability within a thousand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precise about trust: in v1 one Fermata verifier signs the verdicts and the notary is ours. But every verdict points at a proof anyone can re-verify, so cheating is detectable. The roadmap removes us from the trust path. We're looking for pilot API vendors and agent builders; the live demo is linked on screen. Fermata: pay on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2182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63290"/>
            <a:ext cx="10566400" cy="754335"/>
          </a:xfrm>
          <a:prstGeom prst="rect">
            <a:avLst/>
          </a:prstGeom>
          <a:noFill/>
          <a:ln/>
        </p:spPr>
        <p:txBody>
          <a:bodyPr wrap="square" lIns="0" tIns="0" rIns="0" bIns="0" rtlCol="0" anchor="t"/>
          <a:lstStyle>
            <a:lvl1pPr algn="l" indent="0" marL="0">
              <a:lnSpc>
                <a:spcPct val="115000"/>
              </a:lnSpc>
              <a:buNone/>
              <a:defRPr lang="en-US" sz="3600" dirty="0">
                <a:solidFill>
                  <a:srgbClr val="F4F3EE"/>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222426"/>
            <a:ext cx="10566400" cy="3822774"/>
          </a:xfrm>
          <a:prstGeom prst="rect">
            <a:avLst/>
          </a:prstGeom>
          <a:noFill/>
          <a:ln/>
        </p:spPr>
        <p:txBody>
          <a:bodyPr wrap="square" lIns="0" tIns="0" rIns="0" bIns="0" rtlCol="0" anchor="t"/>
          <a:lstStyle>
            <a:lvl1pPr algn="l" indent="0" marL="0">
              <a:lnSpc>
                <a:spcPct val="140000"/>
              </a:lnSpc>
              <a:buNone/>
              <a:defRPr lang="en-US" sz="1600" dirty="0">
                <a:solidFill>
                  <a:srgbClr val="F4F3E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2182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63290"/>
            <a:ext cx="10566400" cy="754335"/>
          </a:xfrm>
          <a:prstGeom prst="rect">
            <a:avLst/>
          </a:prstGeom>
          <a:noFill/>
          <a:ln/>
        </p:spPr>
        <p:txBody>
          <a:bodyPr wrap="square" lIns="0" tIns="0" rIns="0" bIns="0" rtlCol="0" anchor="t"/>
          <a:lstStyle>
            <a:lvl1pPr algn="l" indent="0" marL="0">
              <a:lnSpc>
                <a:spcPct val="115000"/>
              </a:lnSpc>
              <a:buNone/>
              <a:defRPr lang="en-US" sz="3600" dirty="0">
                <a:solidFill>
                  <a:srgbClr val="F4F3EE"/>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222426"/>
            <a:ext cx="10566400" cy="3822774"/>
          </a:xfrm>
          <a:prstGeom prst="rect">
            <a:avLst/>
          </a:prstGeom>
          <a:noFill/>
          <a:ln/>
        </p:spPr>
        <p:txBody>
          <a:bodyPr wrap="square" lIns="0" tIns="0" rIns="0" bIns="0" rtlCol="0" anchor="t"/>
          <a:lstStyle>
            <a:lvl1pPr algn="l" indent="0" marL="0">
              <a:lnSpc>
                <a:spcPct val="140000"/>
              </a:lnSpc>
              <a:buNone/>
              <a:defRPr lang="en-US" sz="1600" dirty="0">
                <a:solidFill>
                  <a:srgbClr val="F4F3E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fermata-production-9378.up.railway.app/dashboard/" TargetMode="External"/><Relationship Id="rId1" Type="http://schemas.openxmlformats.org/officeDocument/2006/relationships/image" Target="../media/image-1-1.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fermata-production-9378.up.railway.app/dashboard/" TargetMode="Externa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826"/>
        </a:solidFill>
      </p:bgPr>
    </p:bg>
    <p:spTree>
      <p:nvGrpSpPr>
        <p:cNvPr id="1" name=""/>
        <p:cNvGrpSpPr/>
        <p:nvPr/>
      </p:nvGrpSpPr>
      <p:grpSpPr>
        <a:xfrm>
          <a:off x="0" y="0"/>
          <a:ext cx="0" cy="0"/>
          <a:chOff x="0" y="0"/>
          <a:chExt cx="0" cy="0"/>
        </a:xfrm>
      </p:grpSpPr>
      <p:pic>
        <p:nvPicPr>
          <p:cNvPr id="2" name="Image 0" descr="Fermata logo: the musical fermata sign, a hold">    </p:cNvPr>
          <p:cNvPicPr>
            <a:picLocks noChangeAspect="1"/>
          </p:cNvPicPr>
          <p:nvPr/>
        </p:nvPicPr>
        <p:blipFill>
          <a:blip r:embed="rId1"/>
          <a:srcRect l="0" r="0" t="0" b="0"/>
          <a:stretch/>
        </p:blipFill>
        <p:spPr>
          <a:xfrm>
            <a:off x="812800" y="1046510"/>
            <a:ext cx="1016000" cy="1016000"/>
          </a:xfrm>
          <a:prstGeom prst="roundRect">
            <a:avLst>
              <a:gd name="adj" fmla="val 20000"/>
            </a:avLst>
          </a:prstGeom>
        </p:spPr>
      </p:pic>
      <p:sp>
        <p:nvSpPr>
          <p:cNvPr id="3" name="Text 0"/>
          <p:cNvSpPr/>
          <p:nvPr>
            <p:ph type="title"/>
          </p:nvPr>
        </p:nvSpPr>
        <p:spPr>
          <a:xfrm>
            <a:off x="812800" y="231651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i="0" spc="-200" kern="0" dirty="0">
                <a:solidFill>
                  <a:srgbClr val="F4F3EE"/>
                </a:solidFill>
                <a:latin typeface="Space Grotesk" pitchFamily="34" charset="0"/>
                <a:ea typeface="Space Grotesk" pitchFamily="34" charset="-122"/>
                <a:cs typeface="Space Grotesk" pitchFamily="34" charset="-120"/>
              </a:rPr>
              <a:t>Fermata</a:t>
            </a:r>
            <a:endParaRPr lang="en-US" sz="8000" dirty="0"/>
          </a:p>
        </p:txBody>
      </p:sp>
      <p:sp>
        <p:nvSpPr>
          <p:cNvPr id="4" name="Text 1"/>
          <p:cNvSpPr/>
          <p:nvPr/>
        </p:nvSpPr>
        <p:spPr>
          <a:xfrm>
            <a:off x="812800" y="358651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dirty="0">
                <a:solidFill>
                  <a:srgbClr val="7FB2F0"/>
                </a:solidFill>
                <a:latin typeface="Space Grotesk" pitchFamily="34" charset="0"/>
                <a:ea typeface="Space Grotesk" pitchFamily="34" charset="-122"/>
                <a:cs typeface="Space Grotesk" pitchFamily="34" charset="-120"/>
              </a:rPr>
              <a:t>Pay on proof.</a:t>
            </a:r>
            <a:endParaRPr lang="en-US" sz="3600" dirty="0"/>
          </a:p>
        </p:txBody>
      </p:sp>
      <p:sp>
        <p:nvSpPr>
          <p:cNvPr id="5" name="Text 2"/>
          <p:cNvSpPr/>
          <p:nvPr/>
        </p:nvSpPr>
        <p:spPr>
          <a:xfrm>
            <a:off x="812800" y="4343400"/>
            <a:ext cx="9156700" cy="75178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CED8"/>
                </a:solidFill>
                <a:latin typeface="IBM Plex Sans" pitchFamily="34" charset="0"/>
                <a:ea typeface="IBM Plex Sans" pitchFamily="34" charset="-122"/>
                <a:cs typeface="IBM Plex Sans" pitchFamily="34" charset="-120"/>
              </a:rPr>
              <a:t>Chargebacks for machine payments, decided on cryptographic evidence instead of a support ticket.</a:t>
            </a:r>
            <a:endParaRPr lang="en-US" sz="2200" dirty="0"/>
          </a:p>
        </p:txBody>
      </p:sp>
      <p:sp>
        <p:nvSpPr>
          <p:cNvPr id="6" name="Text 3"/>
          <p:cNvSpPr/>
          <p:nvPr/>
        </p:nvSpPr>
        <p:spPr>
          <a:xfrm>
            <a:off x="812800" y="532378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7FB2F0"/>
                </a:solidFill>
                <a:latin typeface="JetBrains Mono" pitchFamily="49" charset="0"/>
                <a:ea typeface="JetBrains Mono" pitchFamily="49" charset="-122"/>
                <a:cs typeface="JetBrains Mono" pitchFamily="49" charset="-120"/>
              </a:rPr>
              <a:t>Live demo: </a:t>
            </a:r>
            <a:r>
              <a:rPr lang="en-US" sz="1600" u="sng" dirty="0">
                <a:solidFill>
                  <a:srgbClr val="7FB2F0"/>
                </a:solidFill>
                <a:latin typeface="JetBrains Mono" pitchFamily="49" charset="0"/>
                <a:ea typeface="JetBrains Mono" pitchFamily="49" charset="-122"/>
                <a:cs typeface="JetBrains Mono" pitchFamily="49" charset="-120"/>
                <a:hlinkClick r:id="rId2" invalidUrl="" action="" tgtFrame="" tooltip="" history="1" highlightClick="0" endSnd="0">
                  <a:extLst>
                    <a:ext uri="{A12FA001-AC4F-418D-AE19-62706E023703}">
                      <ahyp:hlinkClr xmlns:ahyp="http://schemas.microsoft.com/office/drawing/2018/hyperlinkcolor" val="tx"/>
                    </a:ext>
                  </a:extLst>
                </a:hlinkClick>
              </a:rPr>
              <a:t>fermata-production-9378.up.railway.app</a:t>
            </a:r>
            <a:endParaRPr lang="en-US" sz="16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B2"/>
                </a:solidFill>
                <a:latin typeface="IBM Plex Sans" pitchFamily="34" charset="0"/>
                <a:ea typeface="IBM Plex Sans" pitchFamily="34" charset="-122"/>
                <a:cs typeface="IBM Plex Sans" pitchFamily="34" charset="-120"/>
              </a:rPr>
              <a:t>Bilgin Kocak · Eskişehir, Turkey · Colosseum Crypto World's Fair — Tempo track · github.com/bilgin-kocak/fermata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A6FC4"/>
        </a:solidFill>
      </p:bgPr>
    </p:bg>
    <p:spTree>
      <p:nvGrpSpPr>
        <p:cNvPr id="1" name=""/>
        <p:cNvGrpSpPr/>
        <p:nvPr/>
      </p:nvGrpSpPr>
      <p:grpSpPr>
        <a:xfrm>
          <a:off x="0" y="0"/>
          <a:ext cx="0" cy="0"/>
          <a:chOff x="0" y="0"/>
          <a:chExt cx="0" cy="0"/>
        </a:xfrm>
      </p:grpSpPr>
      <p:sp>
        <p:nvSpPr>
          <p:cNvPr id="2" name="Text 0"/>
          <p:cNvSpPr/>
          <p:nvPr/>
        </p:nvSpPr>
        <p:spPr>
          <a:xfrm>
            <a:off x="812800" y="8128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DCE8F8"/>
                </a:solidFill>
                <a:latin typeface="Space Grotesk" pitchFamily="34" charset="0"/>
                <a:ea typeface="Space Grotesk" pitchFamily="34" charset="-122"/>
                <a:cs typeface="Space Grotesk" pitchFamily="34" charset="-120"/>
              </a:rPr>
              <a:t>THE PROBLEM</a:t>
            </a:r>
            <a:endParaRPr lang="en-US" sz="1600" dirty="0"/>
          </a:p>
        </p:txBody>
      </p:sp>
      <p:sp>
        <p:nvSpPr>
          <p:cNvPr id="3" name="Text 1"/>
          <p:cNvSpPr/>
          <p:nvPr>
            <p:ph type="title"/>
          </p:nvPr>
        </p:nvSpPr>
        <p:spPr>
          <a:xfrm>
            <a:off x="812800" y="255399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spc="-150" kern="0" dirty="0">
                <a:solidFill>
                  <a:srgbClr val="F4F3EE"/>
                </a:solidFill>
                <a:latin typeface="Space Grotesk" pitchFamily="34" charset="0"/>
                <a:ea typeface="Space Grotesk" pitchFamily="34" charset="-122"/>
                <a:cs typeface="Space Grotesk" pitchFamily="34" charset="-120"/>
              </a:rPr>
              <a:t>Agents pay blind.</a:t>
            </a:r>
            <a:endParaRPr lang="en-US" sz="6000" dirty="0"/>
          </a:p>
        </p:txBody>
      </p:sp>
      <p:sp>
        <p:nvSpPr>
          <p:cNvPr id="4" name="Shape 2"/>
          <p:cNvSpPr/>
          <p:nvPr/>
        </p:nvSpPr>
        <p:spPr>
          <a:xfrm>
            <a:off x="812800" y="4823520"/>
            <a:ext cx="3318917" cy="0"/>
          </a:xfrm>
          <a:prstGeom prst="line">
            <a:avLst/>
          </a:prstGeom>
          <a:noFill/>
          <a:ln w="25400">
            <a:solidFill>
              <a:srgbClr val="F4F3EE"/>
            </a:solidFill>
            <a:prstDash val="solid"/>
          </a:ln>
        </p:spPr>
      </p:sp>
      <p:sp>
        <p:nvSpPr>
          <p:cNvPr id="5" name="Text 3"/>
          <p:cNvSpPr/>
          <p:nvPr/>
        </p:nvSpPr>
        <p:spPr>
          <a:xfrm>
            <a:off x="812800" y="5039420"/>
            <a:ext cx="341848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3EE"/>
                </a:solidFill>
                <a:latin typeface="Space Grotesk" pitchFamily="34" charset="0"/>
                <a:ea typeface="Space Grotesk" pitchFamily="34" charset="-122"/>
                <a:cs typeface="Space Grotesk" pitchFamily="34" charset="-120"/>
              </a:rPr>
              <a:t>They pay per call</a:t>
            </a:r>
            <a:endParaRPr lang="en-US" sz="2200" dirty="0"/>
          </a:p>
        </p:txBody>
      </p:sp>
      <p:sp>
        <p:nvSpPr>
          <p:cNvPr id="6" name="Text 4"/>
          <p:cNvSpPr/>
          <p:nvPr/>
        </p:nvSpPr>
        <p:spPr>
          <a:xfrm>
            <a:off x="812800" y="5476280"/>
            <a:ext cx="341848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EF3FA"/>
                </a:solidFill>
                <a:latin typeface="IBM Plex Sans" pitchFamily="34" charset="0"/>
                <a:ea typeface="IBM Plex Sans" pitchFamily="34" charset="-122"/>
                <a:cs typeface="IBM Plex Sans" pitchFamily="34" charset="-120"/>
              </a:rPr>
              <a:t>Over MPP or x402, a cent at a time, before the answer arrives.</a:t>
            </a:r>
            <a:endParaRPr lang="en-US" sz="1600" dirty="0"/>
          </a:p>
        </p:txBody>
      </p:sp>
      <p:sp>
        <p:nvSpPr>
          <p:cNvPr id="7" name="Shape 5"/>
          <p:cNvSpPr/>
          <p:nvPr/>
        </p:nvSpPr>
        <p:spPr>
          <a:xfrm>
            <a:off x="4436517" y="4823520"/>
            <a:ext cx="3318966" cy="0"/>
          </a:xfrm>
          <a:prstGeom prst="line">
            <a:avLst/>
          </a:prstGeom>
          <a:noFill/>
          <a:ln w="25400">
            <a:solidFill>
              <a:srgbClr val="F4F3EE"/>
            </a:solidFill>
            <a:prstDash val="solid"/>
          </a:ln>
        </p:spPr>
      </p:sp>
      <p:sp>
        <p:nvSpPr>
          <p:cNvPr id="8" name="Text 6"/>
          <p:cNvSpPr/>
          <p:nvPr/>
        </p:nvSpPr>
        <p:spPr>
          <a:xfrm>
            <a:off x="4436517" y="5039420"/>
            <a:ext cx="3418535"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3EE"/>
                </a:solidFill>
                <a:latin typeface="Space Grotesk" pitchFamily="34" charset="0"/>
                <a:ea typeface="Space Grotesk" pitchFamily="34" charset="-122"/>
                <a:cs typeface="Space Grotesk" pitchFamily="34" charset="-120"/>
              </a:rPr>
              <a:t>APIs fail</a:t>
            </a:r>
            <a:endParaRPr lang="en-US" sz="2200" dirty="0"/>
          </a:p>
        </p:txBody>
      </p:sp>
      <p:sp>
        <p:nvSpPr>
          <p:cNvPr id="9" name="Text 7"/>
          <p:cNvSpPr/>
          <p:nvPr/>
        </p:nvSpPr>
        <p:spPr>
          <a:xfrm>
            <a:off x="4436517" y="5476280"/>
            <a:ext cx="3418535"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EF3FA"/>
                </a:solidFill>
                <a:latin typeface="IBM Plex Sans" pitchFamily="34" charset="0"/>
                <a:ea typeface="IBM Plex Sans" pitchFamily="34" charset="-122"/>
                <a:cs typeface="IBM Plex Sans" pitchFamily="34" charset="-120"/>
              </a:rPr>
              <a:t>A 500, truncated JSON, or no answer at all.</a:t>
            </a:r>
            <a:endParaRPr lang="en-US" sz="1600" dirty="0"/>
          </a:p>
        </p:txBody>
      </p:sp>
      <p:sp>
        <p:nvSpPr>
          <p:cNvPr id="10" name="Shape 8"/>
          <p:cNvSpPr/>
          <p:nvPr/>
        </p:nvSpPr>
        <p:spPr>
          <a:xfrm>
            <a:off x="8060283" y="4823520"/>
            <a:ext cx="3318917" cy="0"/>
          </a:xfrm>
          <a:prstGeom prst="line">
            <a:avLst/>
          </a:prstGeom>
          <a:noFill/>
          <a:ln w="25400">
            <a:solidFill>
              <a:srgbClr val="F4F3EE"/>
            </a:solidFill>
            <a:prstDash val="solid"/>
          </a:ln>
        </p:spPr>
      </p:sp>
      <p:sp>
        <p:nvSpPr>
          <p:cNvPr id="11" name="Text 9"/>
          <p:cNvSpPr/>
          <p:nvPr/>
        </p:nvSpPr>
        <p:spPr>
          <a:xfrm>
            <a:off x="8060283" y="5039420"/>
            <a:ext cx="341848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3EE"/>
                </a:solidFill>
                <a:latin typeface="Space Grotesk" pitchFamily="34" charset="0"/>
                <a:ea typeface="Space Grotesk" pitchFamily="34" charset="-122"/>
                <a:cs typeface="Space Grotesk" pitchFamily="34" charset="-120"/>
              </a:rPr>
              <a:t>No recourse</a:t>
            </a:r>
            <a:endParaRPr lang="en-US" sz="2200" dirty="0"/>
          </a:p>
        </p:txBody>
      </p:sp>
      <p:sp>
        <p:nvSpPr>
          <p:cNvPr id="12" name="Text 10"/>
          <p:cNvSpPr/>
          <p:nvPr/>
        </p:nvSpPr>
        <p:spPr>
          <a:xfrm>
            <a:off x="8060283" y="5476280"/>
            <a:ext cx="341848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EF3FA"/>
                </a:solidFill>
                <a:latin typeface="IBM Plex Sans" pitchFamily="34" charset="0"/>
                <a:ea typeface="IBM Plex Sans" pitchFamily="34" charset="-122"/>
                <a:cs typeface="IBM Plex Sans" pitchFamily="34" charset="-120"/>
              </a:rPr>
              <a:t>A receipt proves the buyer paid, not that the API delivered.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2A6FC4"/>
                </a:solidFill>
                <a:latin typeface="Space Grotesk" pitchFamily="34" charset="0"/>
                <a:ea typeface="Space Grotesk" pitchFamily="34" charset="-122"/>
                <a:cs typeface="Space Grotesk" pitchFamily="34" charset="-120"/>
              </a:rPr>
              <a:t>HOW IT WORKS</a:t>
            </a:r>
            <a:endParaRPr lang="en-US" sz="1400" dirty="0"/>
          </a:p>
        </p:txBody>
      </p:sp>
      <p:sp>
        <p:nvSpPr>
          <p:cNvPr id="3" name="Text 1"/>
          <p:cNvSpPr/>
          <p:nvPr>
            <p:ph type="title"/>
          </p:nvPr>
        </p:nvSpPr>
        <p:spPr>
          <a:xfrm>
            <a:off x="812800" y="11632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826"/>
                </a:solidFill>
                <a:latin typeface="Space Grotesk" pitchFamily="34" charset="0"/>
                <a:ea typeface="Space Grotesk" pitchFamily="34" charset="-122"/>
                <a:cs typeface="Space Grotesk" pitchFamily="34" charset="-120"/>
              </a:rPr>
              <a:t>Hold, prove, then release or refund</a:t>
            </a:r>
            <a:endParaRPr lang="en-US" sz="3600" dirty="0"/>
          </a:p>
        </p:txBody>
      </p:sp>
      <p:sp>
        <p:nvSpPr>
          <p:cNvPr id="4" name="Shape 2"/>
          <p:cNvSpPr/>
          <p:nvPr/>
        </p:nvSpPr>
        <p:spPr>
          <a:xfrm>
            <a:off x="819150" y="2752130"/>
            <a:ext cx="3094534" cy="1638201"/>
          </a:xfrm>
          <a:prstGeom prst="roundRect">
            <a:avLst>
              <a:gd name="adj" fmla="val 7365"/>
            </a:avLst>
          </a:prstGeom>
          <a:solidFill>
            <a:srgbClr val="FFFFFE"/>
          </a:solidFill>
          <a:ln w="12700">
            <a:solidFill>
              <a:srgbClr val="D5DAE3"/>
            </a:solidFill>
            <a:prstDash val="solid"/>
          </a:ln>
        </p:spPr>
      </p:sp>
      <p:sp>
        <p:nvSpPr>
          <p:cNvPr id="5" name="Text 3"/>
          <p:cNvSpPr/>
          <p:nvPr/>
        </p:nvSpPr>
        <p:spPr>
          <a:xfrm>
            <a:off x="1054100" y="2987080"/>
            <a:ext cx="27033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6FC4"/>
                </a:solidFill>
                <a:latin typeface="JetBrains Mono" pitchFamily="49" charset="0"/>
                <a:ea typeface="JetBrains Mono" pitchFamily="49" charset="-122"/>
                <a:cs typeface="JetBrains Mono" pitchFamily="49" charset="-120"/>
              </a:rPr>
              <a:t>1 · hold</a:t>
            </a:r>
            <a:endParaRPr lang="en-US" sz="1200" dirty="0"/>
          </a:p>
        </p:txBody>
      </p:sp>
      <p:sp>
        <p:nvSpPr>
          <p:cNvPr id="6" name="Text 4"/>
          <p:cNvSpPr/>
          <p:nvPr/>
        </p:nvSpPr>
        <p:spPr>
          <a:xfrm>
            <a:off x="1054100" y="3276600"/>
            <a:ext cx="270337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Escrow on Tempo</a:t>
            </a:r>
            <a:endParaRPr lang="en-US" sz="2000" dirty="0"/>
          </a:p>
        </p:txBody>
      </p:sp>
      <p:sp>
        <p:nvSpPr>
          <p:cNvPr id="7" name="Text 5"/>
          <p:cNvSpPr/>
          <p:nvPr/>
        </p:nvSpPr>
        <p:spPr>
          <a:xfrm>
            <a:off x="1054100" y="3657600"/>
            <a:ext cx="2703373"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160"/>
                </a:solidFill>
                <a:latin typeface="IBM Plex Sans" pitchFamily="34" charset="0"/>
                <a:ea typeface="IBM Plex Sans" pitchFamily="34" charset="-122"/>
                <a:cs typeface="IBM Plex Sans" pitchFamily="34" charset="-120"/>
              </a:rPr>
              <a:t>The agent's payment is held, tagged with the call's ID.</a:t>
            </a:r>
            <a:endParaRPr lang="en-US" sz="1400" dirty="0"/>
          </a:p>
        </p:txBody>
      </p:sp>
      <p:pic>
        <p:nvPicPr>
          <p:cNvPr id="8" name="Image 0" descr="arrow-right">    </p:cNvPr>
          <p:cNvPicPr>
            <a:picLocks noChangeAspect="1"/>
          </p:cNvPicPr>
          <p:nvPr/>
        </p:nvPicPr>
        <p:blipFill>
          <a:blip r:embed="rId1"/>
          <a:srcRect l="0" r="0" t="0" b="0"/>
          <a:stretch/>
        </p:blipFill>
        <p:spPr>
          <a:xfrm>
            <a:off x="4123234" y="3444230"/>
            <a:ext cx="457200" cy="254000"/>
          </a:xfrm>
          <a:prstGeom prst="rect">
            <a:avLst/>
          </a:prstGeom>
        </p:spPr>
      </p:pic>
      <p:sp>
        <p:nvSpPr>
          <p:cNvPr id="9" name="Shape 6"/>
          <p:cNvSpPr/>
          <p:nvPr/>
        </p:nvSpPr>
        <p:spPr>
          <a:xfrm>
            <a:off x="4789984" y="2627660"/>
            <a:ext cx="3094583" cy="1887091"/>
          </a:xfrm>
          <a:prstGeom prst="roundRect">
            <a:avLst>
              <a:gd name="adj" fmla="val 6393"/>
            </a:avLst>
          </a:prstGeom>
          <a:solidFill>
            <a:srgbClr val="FFFFFE"/>
          </a:solidFill>
          <a:ln w="12700">
            <a:solidFill>
              <a:srgbClr val="D5DAE3"/>
            </a:solidFill>
            <a:prstDash val="solid"/>
          </a:ln>
        </p:spPr>
      </p:sp>
      <p:sp>
        <p:nvSpPr>
          <p:cNvPr id="10" name="Text 7"/>
          <p:cNvSpPr/>
          <p:nvPr/>
        </p:nvSpPr>
        <p:spPr>
          <a:xfrm>
            <a:off x="5024934" y="2862610"/>
            <a:ext cx="27034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6FC4"/>
                </a:solidFill>
                <a:latin typeface="JetBrains Mono" pitchFamily="49" charset="0"/>
                <a:ea typeface="JetBrains Mono" pitchFamily="49" charset="-122"/>
                <a:cs typeface="JetBrains Mono" pitchFamily="49" charset="-120"/>
              </a:rPr>
              <a:t>2 · prove</a:t>
            </a:r>
            <a:endParaRPr lang="en-US" sz="1200" dirty="0"/>
          </a:p>
        </p:txBody>
      </p:sp>
      <p:sp>
        <p:nvSpPr>
          <p:cNvPr id="11" name="Text 8"/>
          <p:cNvSpPr/>
          <p:nvPr/>
        </p:nvSpPr>
        <p:spPr>
          <a:xfrm>
            <a:off x="5024934" y="3152130"/>
            <a:ext cx="270342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TLSNotary</a:t>
            </a:r>
            <a:endParaRPr lang="en-US" sz="2000" dirty="0"/>
          </a:p>
        </p:txBody>
      </p:sp>
      <p:sp>
        <p:nvSpPr>
          <p:cNvPr id="12" name="Text 9"/>
          <p:cNvSpPr/>
          <p:nvPr/>
        </p:nvSpPr>
        <p:spPr>
          <a:xfrm>
            <a:off x="5024934" y="3533130"/>
            <a:ext cx="2703424"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160"/>
                </a:solidFill>
                <a:latin typeface="IBM Plex Sans" pitchFamily="34" charset="0"/>
                <a:ea typeface="IBM Plex Sans" pitchFamily="34" charset="-122"/>
                <a:cs typeface="IBM Plex Sans" pitchFamily="34" charset="-120"/>
              </a:rPr>
              <a:t>A record of exactly what the vendor's server sent, checked against a rule fixed on-chain.</a:t>
            </a:r>
            <a:endParaRPr lang="en-US" sz="1400" dirty="0"/>
          </a:p>
        </p:txBody>
      </p:sp>
      <p:pic>
        <p:nvPicPr>
          <p:cNvPr id="13" name="Image 1" descr="arrow-right">    </p:cNvPr>
          <p:cNvPicPr>
            <a:picLocks noChangeAspect="1"/>
          </p:cNvPicPr>
          <p:nvPr/>
        </p:nvPicPr>
        <p:blipFill>
          <a:blip r:embed="rId2"/>
          <a:srcRect l="0" r="0" t="0" b="0"/>
          <a:stretch/>
        </p:blipFill>
        <p:spPr>
          <a:xfrm>
            <a:off x="8094117" y="3444230"/>
            <a:ext cx="457200" cy="254000"/>
          </a:xfrm>
          <a:prstGeom prst="rect">
            <a:avLst/>
          </a:prstGeom>
        </p:spPr>
      </p:pic>
      <p:sp>
        <p:nvSpPr>
          <p:cNvPr id="14" name="Shape 10"/>
          <p:cNvSpPr/>
          <p:nvPr/>
        </p:nvSpPr>
        <p:spPr>
          <a:xfrm>
            <a:off x="8760867" y="2349599"/>
            <a:ext cx="2611983" cy="1139081"/>
          </a:xfrm>
          <a:prstGeom prst="roundRect">
            <a:avLst>
              <a:gd name="adj" fmla="val 10592"/>
            </a:avLst>
          </a:prstGeom>
          <a:solidFill>
            <a:srgbClr val="E3EEFB"/>
          </a:solidFill>
          <a:ln w="12700">
            <a:solidFill>
              <a:srgbClr val="2A6FC4"/>
            </a:solidFill>
            <a:prstDash val="solid"/>
          </a:ln>
        </p:spPr>
      </p:sp>
      <p:sp>
        <p:nvSpPr>
          <p:cNvPr id="15" name="Text 11"/>
          <p:cNvSpPr/>
          <p:nvPr/>
        </p:nvSpPr>
        <p:spPr>
          <a:xfrm>
            <a:off x="8945017" y="2533749"/>
            <a:ext cx="2310994"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5AA6"/>
                </a:solidFill>
                <a:latin typeface="Space Grotesk" pitchFamily="34" charset="0"/>
                <a:ea typeface="Space Grotesk" pitchFamily="34" charset="-122"/>
                <a:cs typeface="Space Grotesk" pitchFamily="34" charset="-120"/>
              </a:rPr>
              <a:t>Released</a:t>
            </a:r>
            <a:endParaRPr lang="en-US" sz="1800" dirty="0"/>
          </a:p>
        </p:txBody>
      </p:sp>
      <p:sp>
        <p:nvSpPr>
          <p:cNvPr id="16" name="Text 12"/>
          <p:cNvSpPr/>
          <p:nvPr/>
        </p:nvSpPr>
        <p:spPr>
          <a:xfrm>
            <a:off x="8945017" y="2858839"/>
            <a:ext cx="231099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B3445"/>
                </a:solidFill>
                <a:latin typeface="IBM Plex Sans" pitchFamily="34" charset="0"/>
                <a:ea typeface="IBM Plex Sans" pitchFamily="34" charset="-122"/>
                <a:cs typeface="IBM Plex Sans" pitchFamily="34" charset="-120"/>
              </a:rPr>
              <a:t>Delivery proven: the vendor is paid.</a:t>
            </a:r>
            <a:endParaRPr lang="en-US" sz="1300" dirty="0"/>
          </a:p>
        </p:txBody>
      </p:sp>
      <p:sp>
        <p:nvSpPr>
          <p:cNvPr id="17" name="Shape 13"/>
          <p:cNvSpPr/>
          <p:nvPr/>
        </p:nvSpPr>
        <p:spPr>
          <a:xfrm>
            <a:off x="8760867" y="3653780"/>
            <a:ext cx="2611983" cy="1139081"/>
          </a:xfrm>
          <a:prstGeom prst="roundRect">
            <a:avLst>
              <a:gd name="adj" fmla="val 10592"/>
            </a:avLst>
          </a:prstGeom>
          <a:solidFill>
            <a:srgbClr val="FBEADC"/>
          </a:solidFill>
          <a:ln w="12700">
            <a:solidFill>
              <a:srgbClr val="C25E12"/>
            </a:solidFill>
            <a:prstDash val="solid"/>
          </a:ln>
        </p:spPr>
      </p:sp>
      <p:sp>
        <p:nvSpPr>
          <p:cNvPr id="18" name="Text 14"/>
          <p:cNvSpPr/>
          <p:nvPr/>
        </p:nvSpPr>
        <p:spPr>
          <a:xfrm>
            <a:off x="8945017" y="3837930"/>
            <a:ext cx="2310994"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9C4A0C"/>
                </a:solidFill>
                <a:latin typeface="Space Grotesk" pitchFamily="34" charset="0"/>
                <a:ea typeface="Space Grotesk" pitchFamily="34" charset="-122"/>
                <a:cs typeface="Space Grotesk" pitchFamily="34" charset="-120"/>
              </a:rPr>
              <a:t>Refunded</a:t>
            </a:r>
            <a:endParaRPr lang="en-US" sz="1800" dirty="0"/>
          </a:p>
        </p:txBody>
      </p:sp>
      <p:sp>
        <p:nvSpPr>
          <p:cNvPr id="19" name="Text 15"/>
          <p:cNvSpPr/>
          <p:nvPr/>
        </p:nvSpPr>
        <p:spPr>
          <a:xfrm>
            <a:off x="8945017" y="4163020"/>
            <a:ext cx="231099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B3445"/>
                </a:solidFill>
                <a:latin typeface="IBM Plex Sans" pitchFamily="34" charset="0"/>
                <a:ea typeface="IBM Plex Sans" pitchFamily="34" charset="-122"/>
                <a:cs typeface="IBM Plex Sans" pitchFamily="34" charset="-120"/>
              </a:rPr>
              <a:t>Failure proven, or no proof by the deadline.</a:t>
            </a:r>
            <a:endParaRPr lang="en-US" sz="1300" dirty="0"/>
          </a:p>
        </p:txBody>
      </p:sp>
      <p:sp>
        <p:nvSpPr>
          <p:cNvPr id="20" name="Text 16"/>
          <p:cNvSpPr/>
          <p:nvPr/>
        </p:nvSpPr>
        <p:spPr>
          <a:xfrm>
            <a:off x="812800" y="5476280"/>
            <a:ext cx="10883392"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1826"/>
                </a:solidFill>
                <a:latin typeface="IBM Plex Sans" pitchFamily="34" charset="0"/>
                <a:ea typeface="IBM Plex Sans" pitchFamily="34" charset="-122"/>
                <a:cs typeface="IBM Plex Sans" pitchFamily="34" charset="-120"/>
              </a:rPr>
              <a:t>Receipts prove the buyer paid. Fermata proves what the seller delivered</a:t>
            </a:r>
            <a:r>
              <a:rPr lang="en-US" sz="1600" dirty="0">
                <a:solidFill>
                  <a:srgbClr val="121826"/>
                </a:solidFill>
                <a:latin typeface="IBM Plex Sans" pitchFamily="34" charset="0"/>
                <a:ea typeface="IBM Plex Sans" pitchFamily="34" charset="-122"/>
                <a:cs typeface="IBM Plex Sans" pitchFamily="34" charset="-120"/>
              </a:rPr>
              <a:t> — and anyone can re-check the proof offline.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EC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2A6FC4"/>
                </a:solidFill>
                <a:latin typeface="Space Grotesk" pitchFamily="34" charset="0"/>
                <a:ea typeface="Space Grotesk" pitchFamily="34" charset="-122"/>
                <a:cs typeface="Space Grotesk" pitchFamily="34" charset="-120"/>
              </a:rPr>
              <a:t>BUILT ON TEMPO</a:t>
            </a:r>
            <a:endParaRPr lang="en-US" sz="1400" dirty="0"/>
          </a:p>
        </p:txBody>
      </p:sp>
      <p:sp>
        <p:nvSpPr>
          <p:cNvPr id="3" name="Text 1"/>
          <p:cNvSpPr/>
          <p:nvPr>
            <p:ph type="title"/>
          </p:nvPr>
        </p:nvSpPr>
        <p:spPr>
          <a:xfrm>
            <a:off x="812800" y="11632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826"/>
                </a:solidFill>
                <a:latin typeface="Space Grotesk" pitchFamily="34" charset="0"/>
                <a:ea typeface="Space Grotesk" pitchFamily="34" charset="-122"/>
                <a:cs typeface="Space Grotesk" pitchFamily="34" charset="-120"/>
              </a:rPr>
              <a:t>Native to Tempo payments</a:t>
            </a:r>
            <a:endParaRPr lang="en-US" sz="3600" dirty="0"/>
          </a:p>
        </p:txBody>
      </p:sp>
      <p:sp>
        <p:nvSpPr>
          <p:cNvPr id="4" name="Shape 2"/>
          <p:cNvSpPr/>
          <p:nvPr/>
        </p:nvSpPr>
        <p:spPr>
          <a:xfrm>
            <a:off x="812800" y="2164308"/>
            <a:ext cx="5181600" cy="1635671"/>
          </a:xfrm>
          <a:prstGeom prst="roundRect">
            <a:avLst>
              <a:gd name="adj" fmla="val 7764"/>
            </a:avLst>
          </a:prstGeom>
          <a:solidFill>
            <a:srgbClr val="F7F8FA"/>
          </a:solidFill>
          <a:ln/>
        </p:spPr>
      </p:sp>
      <p:sp>
        <p:nvSpPr>
          <p:cNvPr id="5" name="Text 3"/>
          <p:cNvSpPr/>
          <p:nvPr/>
        </p:nvSpPr>
        <p:spPr>
          <a:xfrm>
            <a:off x="1066800" y="2418308"/>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Memo = call ID</a:t>
            </a:r>
            <a:endParaRPr lang="en-US" sz="2000" dirty="0"/>
          </a:p>
        </p:txBody>
      </p:sp>
      <p:sp>
        <p:nvSpPr>
          <p:cNvPr id="6" name="Text 4"/>
          <p:cNvSpPr/>
          <p:nvPr/>
        </p:nvSpPr>
        <p:spPr>
          <a:xfrm>
            <a:off x="1066800" y="2799308"/>
            <a:ext cx="4813808"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160"/>
                </a:solidFill>
                <a:latin typeface="IBM Plex Sans" pitchFamily="34" charset="0"/>
                <a:ea typeface="IBM Plex Sans" pitchFamily="34" charset="-122"/>
                <a:cs typeface="IBM Plex Sans" pitchFamily="34" charset="-120"/>
              </a:rPr>
              <a:t>Every hold, release and refund is a TIP-20 transfer whose memo is the call. The books reconcile from chain logs alone.</a:t>
            </a:r>
            <a:endParaRPr lang="en-US" sz="1400" dirty="0"/>
          </a:p>
        </p:txBody>
      </p:sp>
      <p:sp>
        <p:nvSpPr>
          <p:cNvPr id="7" name="Shape 5"/>
          <p:cNvSpPr/>
          <p:nvPr/>
        </p:nvSpPr>
        <p:spPr>
          <a:xfrm>
            <a:off x="6197600" y="2164308"/>
            <a:ext cx="5181600" cy="1635671"/>
          </a:xfrm>
          <a:prstGeom prst="roundRect">
            <a:avLst>
              <a:gd name="adj" fmla="val 7764"/>
            </a:avLst>
          </a:prstGeom>
          <a:solidFill>
            <a:srgbClr val="F7F8FA"/>
          </a:solidFill>
          <a:ln/>
        </p:spPr>
      </p:sp>
      <p:sp>
        <p:nvSpPr>
          <p:cNvPr id="8" name="Text 6"/>
          <p:cNvSpPr/>
          <p:nvPr/>
        </p:nvSpPr>
        <p:spPr>
          <a:xfrm>
            <a:off x="6451600" y="2418308"/>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One-transaction hold</a:t>
            </a:r>
            <a:endParaRPr lang="en-US" sz="2000" dirty="0"/>
          </a:p>
        </p:txBody>
      </p:sp>
      <p:sp>
        <p:nvSpPr>
          <p:cNvPr id="9" name="Text 7"/>
          <p:cNvSpPr/>
          <p:nvPr/>
        </p:nvSpPr>
        <p:spPr>
          <a:xfrm>
            <a:off x="6451600" y="2799308"/>
            <a:ext cx="481380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160"/>
                </a:solidFill>
                <a:latin typeface="IBM Plex Sans" pitchFamily="34" charset="0"/>
                <a:ea typeface="IBM Plex Sans" pitchFamily="34" charset="-122"/>
                <a:cs typeface="IBM Plex Sans" pitchFamily="34" charset="-120"/>
              </a:rPr>
              <a:t>A TIP-20 permit plus the hold in one transaction; gas is paid in the same stablecoin.</a:t>
            </a:r>
            <a:endParaRPr lang="en-US" sz="1400" dirty="0"/>
          </a:p>
        </p:txBody>
      </p:sp>
      <p:sp>
        <p:nvSpPr>
          <p:cNvPr id="10" name="Shape 8"/>
          <p:cNvSpPr/>
          <p:nvPr/>
        </p:nvSpPr>
        <p:spPr>
          <a:xfrm>
            <a:off x="812800" y="4003179"/>
            <a:ext cx="5181600" cy="2042021"/>
          </a:xfrm>
          <a:prstGeom prst="roundRect">
            <a:avLst>
              <a:gd name="adj" fmla="val 6219"/>
            </a:avLst>
          </a:prstGeom>
          <a:solidFill>
            <a:srgbClr val="F7F8FA"/>
          </a:solidFill>
          <a:ln/>
        </p:spPr>
      </p:sp>
      <p:sp>
        <p:nvSpPr>
          <p:cNvPr id="11" name="Text 9"/>
          <p:cNvSpPr/>
          <p:nvPr/>
        </p:nvSpPr>
        <p:spPr>
          <a:xfrm>
            <a:off x="1066800" y="4257179"/>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A new MPP method</a:t>
            </a:r>
            <a:endParaRPr lang="en-US" sz="2000" dirty="0"/>
          </a:p>
        </p:txBody>
      </p:sp>
      <p:sp>
        <p:nvSpPr>
          <p:cNvPr id="12" name="Text 10"/>
          <p:cNvSpPr/>
          <p:nvPr/>
        </p:nvSpPr>
        <p:spPr>
          <a:xfrm>
            <a:off x="1066800" y="4638179"/>
            <a:ext cx="481380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160"/>
                </a:solidFill>
                <a:latin typeface="IBM Plex Sans" pitchFamily="34" charset="0"/>
                <a:ea typeface="IBM Plex Sans" pitchFamily="34" charset="-122"/>
                <a:cs typeface="IBM Plex Sans" pitchFamily="34" charset="-120"/>
              </a:rPr>
              <a:t>A custom </a:t>
            </a:r>
            <a:r>
              <a:rPr lang="en-US" sz="1400" dirty="0">
                <a:solidFill>
                  <a:srgbClr val="1E5AA6"/>
                </a:solidFill>
                <a:latin typeface="IBM Plex Sans" pitchFamily="34" charset="0"/>
                <a:ea typeface="IBM Plex Sans" pitchFamily="34" charset="-122"/>
                <a:cs typeface="IBM Plex Sans" pitchFamily="34" charset="-120"/>
              </a:rPr>
              <a:t>fermata</a:t>
            </a:r>
            <a:r>
              <a:rPr lang="en-US" sz="1400" dirty="0">
                <a:solidFill>
                  <a:srgbClr val="4A5160"/>
                </a:solidFill>
                <a:latin typeface="IBM Plex Sans" pitchFamily="34" charset="0"/>
                <a:ea typeface="IBM Plex Sans" pitchFamily="34" charset="-122"/>
                <a:cs typeface="IBM Plex Sans" pitchFamily="34" charset="-120"/>
              </a:rPr>
              <a:t> method for mppx, with the agent's own allow-lists:</a:t>
            </a:r>
            <a:endParaRPr lang="en-US" sz="1400" dirty="0"/>
          </a:p>
        </p:txBody>
      </p:sp>
      <p:sp>
        <p:nvSpPr>
          <p:cNvPr id="13" name="Text 11"/>
          <p:cNvSpPr/>
          <p:nvPr/>
        </p:nvSpPr>
        <p:spPr>
          <a:xfrm>
            <a:off x="1066800" y="5212159"/>
            <a:ext cx="4673600" cy="579041"/>
          </a:xfrm>
          <a:prstGeom prst="roundRect">
            <a:avLst>
              <a:gd name="adj" fmla="val 13160"/>
            </a:avLst>
          </a:prstGeom>
          <a:solidFill>
            <a:srgbClr val="E8ECF2"/>
          </a:solidFill>
          <a:ln/>
        </p:spPr>
        <p:txBody>
          <a:bodyPr wrap="square" lIns="79282" tIns="53882" rIns="0" bIns="28482" rtlCol="0" anchor="t">
            <a:normAutofit/>
          </a:bodyPr>
          <a:lstStyle/>
          <a:p>
            <a:pPr algn="l" indent="0" marL="0">
              <a:lnSpc>
                <a:spcPts val="1680"/>
              </a:lnSpc>
              <a:buNone/>
            </a:pPr>
            <a:r>
              <a:rPr lang="en-US" sz="1200" dirty="0">
                <a:solidFill>
                  <a:srgbClr val="1E5AA6"/>
                </a:solidFill>
                <a:latin typeface="JetBrains Mono" pitchFamily="49" charset="0"/>
                <a:ea typeface="JetBrains Mono" pitchFamily="49" charset="-122"/>
                <a:cs typeface="JetBrains Mono" pitchFamily="49" charset="-120"/>
              </a:rPr>
              <a:t>fermata({ wallet, client, escrows, trustedVerifiers })</a:t>
            </a:r>
            <a:endParaRPr lang="en-US" sz="1200" dirty="0"/>
          </a:p>
        </p:txBody>
      </p:sp>
      <p:sp>
        <p:nvSpPr>
          <p:cNvPr id="14" name="Shape 12"/>
          <p:cNvSpPr/>
          <p:nvPr/>
        </p:nvSpPr>
        <p:spPr>
          <a:xfrm>
            <a:off x="6197600" y="4003179"/>
            <a:ext cx="5181600" cy="2042021"/>
          </a:xfrm>
          <a:prstGeom prst="roundRect">
            <a:avLst>
              <a:gd name="adj" fmla="val 6219"/>
            </a:avLst>
          </a:prstGeom>
          <a:solidFill>
            <a:srgbClr val="F7F8FA"/>
          </a:solidFill>
          <a:ln/>
        </p:spPr>
      </p:sp>
      <p:sp>
        <p:nvSpPr>
          <p:cNvPr id="15" name="Text 13"/>
          <p:cNvSpPr/>
          <p:nvPr/>
        </p:nvSpPr>
        <p:spPr>
          <a:xfrm>
            <a:off x="6451600" y="4257179"/>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1826"/>
                </a:solidFill>
                <a:latin typeface="Space Grotesk" pitchFamily="34" charset="0"/>
                <a:ea typeface="Space Grotesk" pitchFamily="34" charset="-122"/>
                <a:cs typeface="Space Grotesk" pitchFamily="34" charset="-120"/>
              </a:rPr>
              <a:t>MPP over MCP</a:t>
            </a:r>
            <a:endParaRPr lang="en-US" sz="2000" dirty="0"/>
          </a:p>
        </p:txBody>
      </p:sp>
      <p:sp>
        <p:nvSpPr>
          <p:cNvPr id="16" name="Text 14"/>
          <p:cNvSpPr/>
          <p:nvPr/>
        </p:nvSpPr>
        <p:spPr>
          <a:xfrm>
            <a:off x="6451600" y="4638179"/>
            <a:ext cx="481380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160"/>
                </a:solidFill>
                <a:latin typeface="IBM Plex Sans" pitchFamily="34" charset="0"/>
                <a:ea typeface="IBM Plex Sans" pitchFamily="34" charset="-122"/>
                <a:cs typeface="IBM Plex Sans" pitchFamily="34" charset="-120"/>
              </a:rPr>
              <a:t>Every service is also a paid MCP tool, so agents such as Claude pay on proof too.</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826"/>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7FB2F0"/>
                </a:solidFill>
                <a:latin typeface="Space Grotesk" pitchFamily="34" charset="0"/>
                <a:ea typeface="Space Grotesk" pitchFamily="34" charset="-122"/>
                <a:cs typeface="Space Grotesk" pitchFamily="34" charset="-120"/>
              </a:rPr>
              <a:t>IT WORKS · TEMPO MODERATO TESTNET</a:t>
            </a:r>
            <a:endParaRPr lang="en-US" sz="1400" dirty="0"/>
          </a:p>
        </p:txBody>
      </p:sp>
      <p:sp>
        <p:nvSpPr>
          <p:cNvPr id="3" name="Text 1"/>
          <p:cNvSpPr/>
          <p:nvPr>
            <p:ph type="title"/>
          </p:nvPr>
        </p:nvSpPr>
        <p:spPr>
          <a:xfrm>
            <a:off x="812800" y="11632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3EE"/>
                </a:solidFill>
                <a:latin typeface="Space Grotesk" pitchFamily="34" charset="0"/>
                <a:ea typeface="Space Grotesk" pitchFamily="34" charset="-122"/>
                <a:cs typeface="Space Grotesk" pitchFamily="34" charset="-120"/>
              </a:rPr>
              <a:t>100 paid calls, no human input</a:t>
            </a:r>
            <a:endParaRPr lang="en-US" sz="3600" dirty="0"/>
          </a:p>
        </p:txBody>
      </p:sp>
      <p:sp>
        <p:nvSpPr>
          <p:cNvPr id="4" name="Shape 2"/>
          <p:cNvSpPr/>
          <p:nvPr/>
        </p:nvSpPr>
        <p:spPr>
          <a:xfrm>
            <a:off x="812800" y="2548285"/>
            <a:ext cx="3386634" cy="1913830"/>
          </a:xfrm>
          <a:prstGeom prst="roundRect">
            <a:avLst>
              <a:gd name="adj" fmla="val 6636"/>
            </a:avLst>
          </a:prstGeom>
          <a:solidFill>
            <a:srgbClr val="1C2436"/>
          </a:solidFill>
          <a:ln/>
        </p:spPr>
      </p:sp>
      <p:sp>
        <p:nvSpPr>
          <p:cNvPr id="5" name="Text 3"/>
          <p:cNvSpPr/>
          <p:nvPr/>
        </p:nvSpPr>
        <p:spPr>
          <a:xfrm>
            <a:off x="1066800" y="2802285"/>
            <a:ext cx="296499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4F3EE"/>
                </a:solidFill>
                <a:latin typeface="Space Grotesk" pitchFamily="34" charset="0"/>
                <a:ea typeface="Space Grotesk" pitchFamily="34" charset="-122"/>
                <a:cs typeface="Space Grotesk" pitchFamily="34" charset="-120"/>
              </a:rPr>
              <a:t>3/3</a:t>
            </a:r>
            <a:endParaRPr lang="en-US" sz="4800" dirty="0"/>
          </a:p>
        </p:txBody>
      </p:sp>
      <p:sp>
        <p:nvSpPr>
          <p:cNvPr id="6" name="Text 4"/>
          <p:cNvSpPr/>
          <p:nvPr/>
        </p:nvSpPr>
        <p:spPr>
          <a:xfrm>
            <a:off x="1066800" y="3488085"/>
            <a:ext cx="2964993"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9CED8"/>
                </a:solidFill>
                <a:latin typeface="IBM Plex Sans" pitchFamily="34" charset="0"/>
                <a:ea typeface="IBM Plex Sans" pitchFamily="34" charset="-122"/>
                <a:cs typeface="IBM Plex Sans" pitchFamily="34" charset="-120"/>
              </a:rPr>
              <a:t>canonical cases pass: release, proven-failure refund, timeout refund</a:t>
            </a:r>
            <a:endParaRPr lang="en-US" sz="1400" dirty="0"/>
          </a:p>
        </p:txBody>
      </p:sp>
      <p:sp>
        <p:nvSpPr>
          <p:cNvPr id="7" name="Shape 5"/>
          <p:cNvSpPr/>
          <p:nvPr/>
        </p:nvSpPr>
        <p:spPr>
          <a:xfrm>
            <a:off x="4402634" y="2548285"/>
            <a:ext cx="3386683" cy="1913830"/>
          </a:xfrm>
          <a:prstGeom prst="roundRect">
            <a:avLst>
              <a:gd name="adj" fmla="val 6636"/>
            </a:avLst>
          </a:prstGeom>
          <a:solidFill>
            <a:srgbClr val="1C2436"/>
          </a:solidFill>
          <a:ln/>
        </p:spPr>
      </p:sp>
      <p:sp>
        <p:nvSpPr>
          <p:cNvPr id="8" name="Text 6"/>
          <p:cNvSpPr/>
          <p:nvPr/>
        </p:nvSpPr>
        <p:spPr>
          <a:xfrm>
            <a:off x="4656634" y="2802285"/>
            <a:ext cx="2965044"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4F3EE"/>
                </a:solidFill>
                <a:latin typeface="Space Grotesk" pitchFamily="34" charset="0"/>
                <a:ea typeface="Space Grotesk" pitchFamily="34" charset="-122"/>
                <a:cs typeface="Space Grotesk" pitchFamily="34" charset="-120"/>
              </a:rPr>
              <a:t>96 / 4</a:t>
            </a:r>
            <a:endParaRPr lang="en-US" sz="4800" dirty="0"/>
          </a:p>
        </p:txBody>
      </p:sp>
      <p:sp>
        <p:nvSpPr>
          <p:cNvPr id="9" name="Text 7"/>
          <p:cNvSpPr/>
          <p:nvPr/>
        </p:nvSpPr>
        <p:spPr>
          <a:xfrm>
            <a:off x="4656634" y="3488085"/>
            <a:ext cx="2965044"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9CED8"/>
                </a:solidFill>
                <a:latin typeface="IBM Plex Sans" pitchFamily="34" charset="0"/>
                <a:ea typeface="IBM Plex Sans" pitchFamily="34" charset="-122"/>
                <a:cs typeface="IBM Plex Sans" pitchFamily="34" charset="-120"/>
              </a:rPr>
              <a:t>of 100 calls released / refunded against a vendor failing ~3 % at random; 0 errors</a:t>
            </a:r>
            <a:endParaRPr lang="en-US" sz="1400" dirty="0"/>
          </a:p>
        </p:txBody>
      </p:sp>
      <p:sp>
        <p:nvSpPr>
          <p:cNvPr id="10" name="Shape 8"/>
          <p:cNvSpPr/>
          <p:nvPr/>
        </p:nvSpPr>
        <p:spPr>
          <a:xfrm>
            <a:off x="7992517" y="2548285"/>
            <a:ext cx="3386683" cy="1913830"/>
          </a:xfrm>
          <a:prstGeom prst="roundRect">
            <a:avLst>
              <a:gd name="adj" fmla="val 6636"/>
            </a:avLst>
          </a:prstGeom>
          <a:solidFill>
            <a:srgbClr val="1C2436"/>
          </a:solidFill>
          <a:ln/>
        </p:spPr>
      </p:sp>
      <p:sp>
        <p:nvSpPr>
          <p:cNvPr id="11" name="Text 9"/>
          <p:cNvSpPr/>
          <p:nvPr/>
        </p:nvSpPr>
        <p:spPr>
          <a:xfrm>
            <a:off x="8246517" y="2802285"/>
            <a:ext cx="2965044"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4F3EE"/>
                </a:solidFill>
                <a:latin typeface="Space Grotesk" pitchFamily="34" charset="0"/>
                <a:ea typeface="Space Grotesk" pitchFamily="34" charset="-122"/>
                <a:cs typeface="Space Grotesk" pitchFamily="34" charset="-120"/>
              </a:rPr>
              <a:t>1.03 s</a:t>
            </a:r>
            <a:endParaRPr lang="en-US" sz="4800" dirty="0"/>
          </a:p>
        </p:txBody>
      </p:sp>
      <p:sp>
        <p:nvSpPr>
          <p:cNvPr id="12" name="Text 10"/>
          <p:cNvSpPr/>
          <p:nvPr/>
        </p:nvSpPr>
        <p:spPr>
          <a:xfrm>
            <a:off x="8246517" y="3488085"/>
            <a:ext cx="2965044"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9CED8"/>
                </a:solidFill>
                <a:latin typeface="IBM Plex Sans" pitchFamily="34" charset="0"/>
                <a:ea typeface="IBM Plex Sans" pitchFamily="34" charset="-122"/>
                <a:cs typeface="IBM Plex Sans" pitchFamily="34" charset="-120"/>
              </a:rPr>
              <a:t>TLSNotary proof per call (median); 7.5 s end to end, mostly waiting for two transactions</a:t>
            </a:r>
            <a:endParaRPr lang="en-US" sz="1400" dirty="0"/>
          </a:p>
        </p:txBody>
      </p:sp>
      <p:sp>
        <p:nvSpPr>
          <p:cNvPr id="13" name="Text 11"/>
          <p:cNvSpPr/>
          <p:nvPr/>
        </p:nvSpPr>
        <p:spPr>
          <a:xfrm>
            <a:off x="812800" y="5344220"/>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ED8"/>
                </a:solidFill>
                <a:latin typeface="IBM Plex Sans" pitchFamily="34" charset="0"/>
                <a:ea typeface="IBM Plex Sans" pitchFamily="34" charset="-122"/>
                <a:cs typeface="IBM Plex Sans" pitchFamily="34" charset="-120"/>
              </a:rPr>
              <a:t>Every call settled on-chain with its memo; every proof downloadable and re-verifiable offline. Escrow </a:t>
            </a:r>
            <a:r>
              <a:rPr lang="en-US" sz="1400" dirty="0">
                <a:solidFill>
                  <a:srgbClr val="7FB2F0"/>
                </a:solidFill>
                <a:latin typeface="IBM Plex Sans" pitchFamily="34" charset="0"/>
                <a:ea typeface="IBM Plex Sans" pitchFamily="34" charset="-122"/>
                <a:cs typeface="IBM Plex Sans" pitchFamily="34" charset="-120"/>
              </a:rPr>
              <a:t>0x88A9…0763</a:t>
            </a:r>
            <a:r>
              <a:rPr lang="en-US" sz="1400" dirty="0">
                <a:solidFill>
                  <a:srgbClr val="C9CED8"/>
                </a:solidFill>
                <a:latin typeface="IBM Plex Sans" pitchFamily="34" charset="0"/>
                <a:ea typeface="IBM Plex Sans" pitchFamily="34" charset="-122"/>
                <a:cs typeface="IBM Plex Sans" pitchFamily="34" charset="-120"/>
              </a:rPr>
              <a:t> on explore.testnet.tempo.xyz.</a:t>
            </a:r>
            <a:endParaRPr lang="en-US" sz="14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B2"/>
                </a:solidFill>
                <a:latin typeface="IBM Plex Sans" pitchFamily="34" charset="0"/>
                <a:ea typeface="IBM Plex Sans" pitchFamily="34" charset="-122"/>
                <a:cs typeface="IBM Plex Sans" pitchFamily="34" charset="-120"/>
              </a:rPr>
              <a:t>Run 2026-10-01 · pnpm demo:cases and demo:load --calls 100 --chain moderato · FACTS §15.5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2A6FC4"/>
                </a:solidFill>
                <a:latin typeface="Space Grotesk" pitchFamily="34" charset="0"/>
                <a:ea typeface="Space Grotesk" pitchFamily="34" charset="-122"/>
                <a:cs typeface="Space Grotesk" pitchFamily="34" charset="-120"/>
              </a:rPr>
              <a:t>NOT A MOCK</a:t>
            </a:r>
            <a:endParaRPr lang="en-US" sz="1400" dirty="0"/>
          </a:p>
        </p:txBody>
      </p:sp>
      <p:sp>
        <p:nvSpPr>
          <p:cNvPr id="3" name="Text 1"/>
          <p:cNvSpPr/>
          <p:nvPr>
            <p:ph type="title"/>
          </p:nvPr>
        </p:nvSpPr>
        <p:spPr>
          <a:xfrm>
            <a:off x="812800" y="11632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826"/>
                </a:solidFill>
                <a:latin typeface="Space Grotesk" pitchFamily="34" charset="0"/>
                <a:ea typeface="Space Grotesk" pitchFamily="34" charset="-122"/>
                <a:cs typeface="Space Grotesk" pitchFamily="34" charset="-120"/>
              </a:rPr>
              <a:t>Real vendors, real agents</a:t>
            </a:r>
            <a:endParaRPr lang="en-US" sz="3600" dirty="0"/>
          </a:p>
        </p:txBody>
      </p:sp>
      <p:sp>
        <p:nvSpPr>
          <p:cNvPr id="4" name="Shape 2"/>
          <p:cNvSpPr/>
          <p:nvPr/>
        </p:nvSpPr>
        <p:spPr>
          <a:xfrm>
            <a:off x="819150" y="1926530"/>
            <a:ext cx="5143500" cy="1437580"/>
          </a:xfrm>
          <a:prstGeom prst="roundRect">
            <a:avLst>
              <a:gd name="adj" fmla="val 8393"/>
            </a:avLst>
          </a:prstGeom>
          <a:solidFill>
            <a:srgbClr val="FFFFFE"/>
          </a:solidFill>
          <a:ln w="12700">
            <a:solidFill>
              <a:srgbClr val="D5DAE3"/>
            </a:solidFill>
            <a:prstDash val="solid"/>
          </a:ln>
        </p:spPr>
      </p:sp>
      <p:sp>
        <p:nvSpPr>
          <p:cNvPr id="5" name="Text 3"/>
          <p:cNvSpPr/>
          <p:nvPr/>
        </p:nvSpPr>
        <p:spPr>
          <a:xfrm>
            <a:off x="1028700" y="2136080"/>
            <a:ext cx="486613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826"/>
                </a:solidFill>
                <a:latin typeface="Space Grotesk" pitchFamily="34" charset="0"/>
                <a:ea typeface="Space Grotesk" pitchFamily="34" charset="-122"/>
                <a:cs typeface="Space Grotesk" pitchFamily="34" charset="-120"/>
              </a:rPr>
              <a:t>The real npm registry</a:t>
            </a:r>
            <a:endParaRPr lang="en-US" sz="1800" dirty="0"/>
          </a:p>
        </p:txBody>
      </p:sp>
      <p:sp>
        <p:nvSpPr>
          <p:cNvPr id="6" name="Text 4"/>
          <p:cNvSpPr/>
          <p:nvPr/>
        </p:nvSpPr>
        <p:spPr>
          <a:xfrm>
            <a:off x="1028700" y="2461171"/>
            <a:ext cx="4866132"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160"/>
                </a:solidFill>
                <a:latin typeface="IBM Plex Sans" pitchFamily="34" charset="0"/>
                <a:ea typeface="IBM Plex Sans" pitchFamily="34" charset="-122"/>
                <a:cs typeface="IBM Plex Sans" pitchFamily="34" charset="-120"/>
              </a:rPr>
              <a:t>A real 200 was </a:t>
            </a:r>
            <a:r>
              <a:rPr lang="en-US" sz="1300" b="1" dirty="0">
                <a:solidFill>
                  <a:srgbClr val="4A5160"/>
                </a:solidFill>
                <a:latin typeface="IBM Plex Sans" pitchFamily="34" charset="0"/>
                <a:ea typeface="IBM Plex Sans" pitchFamily="34" charset="-122"/>
                <a:cs typeface="IBM Plex Sans" pitchFamily="34" charset="-120"/>
              </a:rPr>
              <a:t>released</a:t>
            </a:r>
            <a:r>
              <a:rPr lang="en-US" sz="1300" dirty="0">
                <a:solidFill>
                  <a:srgbClr val="4A5160"/>
                </a:solidFill>
                <a:latin typeface="IBM Plex Sans" pitchFamily="34" charset="0"/>
                <a:ea typeface="IBM Plex Sans" pitchFamily="34" charset="-122"/>
                <a:cs typeface="IBM Plex Sans" pitchFamily="34" charset="-120"/>
              </a:rPr>
              <a:t>; npm's real 404 was </a:t>
            </a:r>
            <a:r>
              <a:rPr lang="en-US" sz="1300" b="1" dirty="0">
                <a:solidFill>
                  <a:srgbClr val="4A5160"/>
                </a:solidFill>
                <a:latin typeface="IBM Plex Sans" pitchFamily="34" charset="0"/>
                <a:ea typeface="IBM Plex Sans" pitchFamily="34" charset="-122"/>
                <a:cs typeface="IBM Plex Sans" pitchFamily="34" charset="-120"/>
              </a:rPr>
              <a:t>refunded</a:t>
            </a:r>
            <a:r>
              <a:rPr lang="en-US" sz="1300" dirty="0">
                <a:solidFill>
                  <a:srgbClr val="4A5160"/>
                </a:solidFill>
                <a:latin typeface="IBM Plex Sans" pitchFamily="34" charset="0"/>
                <a:ea typeface="IBM Plex Sans" pitchFamily="34" charset="-122"/>
                <a:cs typeface="IBM Plex Sans" pitchFamily="34" charset="-120"/>
              </a:rPr>
              <a:t>. The certificate chains to Mozilla's roots, over the open internet, at about 2 s per proof.</a:t>
            </a:r>
            <a:endParaRPr lang="en-US" sz="1300" dirty="0"/>
          </a:p>
        </p:txBody>
      </p:sp>
      <p:sp>
        <p:nvSpPr>
          <p:cNvPr id="7" name="Shape 5"/>
          <p:cNvSpPr/>
          <p:nvPr/>
        </p:nvSpPr>
        <p:spPr>
          <a:xfrm>
            <a:off x="819150" y="3529211"/>
            <a:ext cx="5143500" cy="1437580"/>
          </a:xfrm>
          <a:prstGeom prst="roundRect">
            <a:avLst>
              <a:gd name="adj" fmla="val 8393"/>
            </a:avLst>
          </a:prstGeom>
          <a:solidFill>
            <a:srgbClr val="FFFFFE"/>
          </a:solidFill>
          <a:ln w="12700">
            <a:solidFill>
              <a:srgbClr val="D5DAE3"/>
            </a:solidFill>
            <a:prstDash val="solid"/>
          </a:ln>
        </p:spPr>
      </p:sp>
      <p:sp>
        <p:nvSpPr>
          <p:cNvPr id="8" name="Text 6"/>
          <p:cNvSpPr/>
          <p:nvPr/>
        </p:nvSpPr>
        <p:spPr>
          <a:xfrm>
            <a:off x="1028700" y="3738761"/>
            <a:ext cx="486613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826"/>
                </a:solidFill>
                <a:latin typeface="Space Grotesk" pitchFamily="34" charset="0"/>
                <a:ea typeface="Space Grotesk" pitchFamily="34" charset="-122"/>
                <a:cs typeface="Space Grotesk" pitchFamily="34" charset="-120"/>
              </a:rPr>
              <a:t>A real Claude agent</a:t>
            </a:r>
            <a:endParaRPr lang="en-US" sz="1800" dirty="0"/>
          </a:p>
        </p:txBody>
      </p:sp>
      <p:sp>
        <p:nvSpPr>
          <p:cNvPr id="9" name="Text 7"/>
          <p:cNvSpPr/>
          <p:nvPr/>
        </p:nvSpPr>
        <p:spPr>
          <a:xfrm>
            <a:off x="1028700" y="4063851"/>
            <a:ext cx="4866132"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160"/>
                </a:solidFill>
                <a:latin typeface="IBM Plex Sans" pitchFamily="34" charset="0"/>
                <a:ea typeface="IBM Plex Sans" pitchFamily="34" charset="-122"/>
                <a:cs typeface="IBM Plex Sans" pitchFamily="34" charset="-120"/>
              </a:rPr>
              <a:t>Given only Fermata's MCP server, Claude bought two quotes and re-checked the proof: </a:t>
            </a:r>
            <a:r>
              <a:rPr lang="en-US" sz="1300" i="1" dirty="0">
                <a:solidFill>
                  <a:srgbClr val="4A5160"/>
                </a:solidFill>
                <a:latin typeface="IBM Plex Sans" pitchFamily="34" charset="0"/>
                <a:ea typeface="IBM Plex Sans" pitchFamily="34" charset="-122"/>
                <a:cs typeface="IBM Plex Sans" pitchFamily="34" charset="-120"/>
              </a:rPr>
              <a:t>"The 0.01 was refunded to you, because the vendor returned HTTP 500."</a:t>
            </a:r>
            <a:endParaRPr lang="en-US" sz="1300" dirty="0"/>
          </a:p>
        </p:txBody>
      </p:sp>
      <p:sp>
        <p:nvSpPr>
          <p:cNvPr id="10" name="Shape 8"/>
          <p:cNvSpPr/>
          <p:nvPr/>
        </p:nvSpPr>
        <p:spPr>
          <a:xfrm>
            <a:off x="6223000" y="1920180"/>
            <a:ext cx="5029200" cy="2832100"/>
          </a:xfrm>
          <a:prstGeom prst="roundRect">
            <a:avLst>
              <a:gd name="adj" fmla="val 3587"/>
            </a:avLst>
          </a:prstGeom>
          <a:solidFill>
            <a:srgbClr val="121826"/>
          </a:solidFill>
          <a:ln/>
        </p:spPr>
      </p:sp>
      <p:pic>
        <p:nvPicPr>
          <p:cNvPr id="11" name="Image 0" descr="Fermata dashboard proof drawer: a released call re-verified offline, every recomputed hash matching the on-chain value">    </p:cNvPr>
          <p:cNvPicPr>
            <a:picLocks noChangeAspect="1"/>
          </p:cNvPicPr>
          <p:nvPr/>
        </p:nvPicPr>
        <p:blipFill>
          <a:blip r:embed="rId1"/>
          <a:srcRect l="0" r="0" t="-56" b="-56"/>
          <a:stretch/>
        </p:blipFill>
        <p:spPr>
          <a:xfrm>
            <a:off x="6223000" y="1920180"/>
            <a:ext cx="5029200" cy="2832100"/>
          </a:xfrm>
          <a:prstGeom prst="roundRect">
            <a:avLst>
              <a:gd name="adj" fmla="val 3587"/>
            </a:avLst>
          </a:prstGeom>
        </p:spPr>
      </p:pic>
      <p:sp>
        <p:nvSpPr>
          <p:cNvPr id="12" name="Text 9"/>
          <p:cNvSpPr/>
          <p:nvPr/>
        </p:nvSpPr>
        <p:spPr>
          <a:xfrm>
            <a:off x="6223000" y="4828480"/>
            <a:ext cx="5310886"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6170"/>
                </a:solidFill>
                <a:latin typeface="IBM Plex Sans" pitchFamily="34" charset="0"/>
                <a:ea typeface="IBM Plex Sans" pitchFamily="34" charset="-122"/>
                <a:cs typeface="IBM Plex Sans" pitchFamily="34" charset="-120"/>
              </a:rPr>
              <a:t>Proof drawer: every hash is recomputed from the proof and matches the chain.</a:t>
            </a:r>
            <a:endParaRPr lang="en-US" sz="12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pnpm demo:real (3/3) and a headless Claude Code session, 2026-10-02, local Tempo emulation · FACTS §15.6, apps/mcp</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EC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2A6FC4"/>
                </a:solidFill>
                <a:latin typeface="Space Grotesk" pitchFamily="34" charset="0"/>
                <a:ea typeface="Space Grotesk" pitchFamily="34" charset="-122"/>
                <a:cs typeface="Space Grotesk" pitchFamily="34" charset="-120"/>
              </a:rPr>
              <a:t>WHY IT'S DIFFERENT</a:t>
            </a:r>
            <a:endParaRPr lang="en-US" sz="1400" dirty="0"/>
          </a:p>
        </p:txBody>
      </p:sp>
      <p:sp>
        <p:nvSpPr>
          <p:cNvPr id="3" name="Text 1"/>
          <p:cNvSpPr/>
          <p:nvPr>
            <p:ph type="title"/>
          </p:nvPr>
        </p:nvSpPr>
        <p:spPr>
          <a:xfrm>
            <a:off x="812800" y="11632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826"/>
                </a:solidFill>
                <a:latin typeface="Space Grotesk" pitchFamily="34" charset="0"/>
                <a:ea typeface="Space Grotesk" pitchFamily="34" charset="-122"/>
                <a:cs typeface="Space Grotesk" pitchFamily="34" charset="-120"/>
              </a:rPr>
              <a:t>No vendor cooperation, no dispute step</a:t>
            </a:r>
            <a:endParaRPr lang="en-US" sz="3600" dirty="0"/>
          </a:p>
        </p:txBody>
      </p:sp>
      <p:sp>
        <p:nvSpPr>
          <p:cNvPr id="4" name="Shape 2"/>
          <p:cNvSpPr/>
          <p:nvPr/>
        </p:nvSpPr>
        <p:spPr>
          <a:xfrm>
            <a:off x="812800" y="1920180"/>
            <a:ext cx="10566400" cy="2630884"/>
          </a:xfrm>
          <a:prstGeom prst="roundRect">
            <a:avLst>
              <a:gd name="adj" fmla="val 3862"/>
            </a:avLst>
          </a:prstGeom>
          <a:solidFill>
            <a:srgbClr val="F7F8FA"/>
          </a:solidFill>
          <a:ln/>
        </p:spPr>
      </p:sp>
      <p:sp>
        <p:nvSpPr>
          <p:cNvPr id="5" name="Shape 3"/>
          <p:cNvSpPr/>
          <p:nvPr/>
        </p:nvSpPr>
        <p:spPr>
          <a:xfrm>
            <a:off x="812800" y="1920180"/>
            <a:ext cx="10566400" cy="2630884"/>
          </a:xfrm>
          <a:custGeom>
            <a:avLst/>
            <a:gdLst/>
            <a:ahLst/>
            <a:cxnLst/>
            <a:rect l="l" t="t" r="r" b="b"/>
            <a:pathLst>
              <a:path w="10566400" h="2630884">
                <a:moveTo>
                  <a:pt x="101600" y="2630884"/>
                </a:moveTo>
                <a:lnTo>
                  <a:pt x="101600" y="2630884"/>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529284"/>
                </a:lnTo>
                <a:arcTo hR="101600" wR="88900" stAng="10800000" swAng="-5400000"/>
                <a:close/>
              </a:path>
            </a:pathLst>
          </a:custGeom>
          <a:solidFill>
            <a:srgbClr val="141413">
              <a:alpha val="22000"/>
            </a:srgbClr>
          </a:solidFill>
          <a:ln/>
        </p:spPr>
      </p:sp>
      <p:sp>
        <p:nvSpPr>
          <p:cNvPr id="6" name="Shape 4"/>
          <p:cNvSpPr/>
          <p:nvPr/>
        </p:nvSpPr>
        <p:spPr>
          <a:xfrm>
            <a:off x="825500" y="1932880"/>
            <a:ext cx="10553700" cy="359321"/>
          </a:xfrm>
          <a:custGeom>
            <a:avLst/>
            <a:gdLst/>
            <a:ahLst/>
            <a:cxnLst/>
            <a:rect l="l" t="t" r="r" b="b"/>
            <a:pathLst>
              <a:path w="10553700" h="359321">
                <a:moveTo>
                  <a:pt x="0" y="88900"/>
                </a:moveTo>
                <a:arcTo hR="88900" wR="88900" stAng="10800000" swAng="5400000"/>
                <a:lnTo>
                  <a:pt x="10452100" y="0"/>
                </a:lnTo>
                <a:arcTo hR="101600" wR="101600" stAng="16200000" swAng="5400000"/>
                <a:lnTo>
                  <a:pt x="10553700" y="359321"/>
                </a:lnTo>
                <a:lnTo>
                  <a:pt x="0" y="359321"/>
                </a:lnTo>
                <a:close/>
              </a:path>
            </a:pathLst>
          </a:custGeom>
          <a:solidFill>
            <a:srgbClr val="E5E6E8"/>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932880"/>
          <a:ext cx="10553700" cy="2618184"/>
        </p:xfrm>
        <a:graphic>
          <a:graphicData uri="http://schemas.openxmlformats.org/drawingml/2006/table">
            <a:tbl>
              <a:tblPr/>
              <a:tblGrid>
                <a:gridCol w="2110740"/>
                <a:gridCol w="2743962"/>
                <a:gridCol w="2955036"/>
                <a:gridCol w="2743962"/>
              </a:tblGrid>
              <a:tr h="359321">
                <a:tc>
                  <a:txBody>
                    <a:bodyPr/>
                    <a:lstStyle/>
                    <a:p>
                      <a:pPr indent="0" marL="0">
                        <a:lnSpc>
                          <a:spcPts val="1820"/>
                        </a:lnSpc>
                        <a:buNone/>
                      </a:pPr>
                      <a:r>
                        <a:rPr lang="en-US" sz="1300" b="1" dirty="0">
                          <a:solidFill>
                            <a:srgbClr val="2B3445"/>
                          </a:solidFill>
                          <a:latin typeface="IBM Plex Sans" pitchFamily="34" charset="0"/>
                          <a:ea typeface="IBM Plex Sans" pitchFamily="34" charset="-122"/>
                          <a:cs typeface="IBM Plex Sans" pitchFamily="34" charset="-120"/>
                        </a:rPr>
                        <a:t>Design</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B7B8B9"/>
                      </a:solidFill>
                      <a:prstDash val="solid"/>
                      <a:round/>
                      <a:headEnd type="none" w="med" len="med"/>
                      <a:tailEnd type="none" w="med" len="med"/>
                    </a:lnR>
                    <a:lnT w="0" cap="flat" cmpd="sng" algn="ctr">
                      <a:noFill/>
                    </a:lnT>
                    <a:lnB w="12700" cap="flat" cmpd="sng" algn="ctr">
                      <a:solidFill>
                        <a:srgbClr val="B7B8B9"/>
                      </a:solidFill>
                      <a:prstDash val="solid"/>
                      <a:round/>
                      <a:headEnd type="none" w="med" len="med"/>
                      <a:tailEnd type="none" w="med" len="med"/>
                    </a:lnB>
                  </a:tcPr>
                </a:tc>
                <a:tc>
                  <a:txBody>
                    <a:bodyPr/>
                    <a:lstStyle/>
                    <a:p>
                      <a:pPr indent="0" marL="0">
                        <a:lnSpc>
                          <a:spcPts val="1820"/>
                        </a:lnSpc>
                        <a:buNone/>
                      </a:pPr>
                      <a:r>
                        <a:rPr lang="en-US" sz="1300" b="1" dirty="0">
                          <a:solidFill>
                            <a:srgbClr val="2B3445"/>
                          </a:solidFill>
                          <a:latin typeface="IBM Plex Sans" pitchFamily="34" charset="0"/>
                          <a:ea typeface="IBM Plex Sans" pitchFamily="34" charset="-122"/>
                          <a:cs typeface="IBM Plex Sans" pitchFamily="34" charset="-120"/>
                        </a:rPr>
                        <a:t>Who decides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8B9"/>
                      </a:solidFill>
                      <a:prstDash val="solid"/>
                      <a:round/>
                      <a:headEnd type="none" w="med" len="med"/>
                      <a:tailEnd type="none" w="med" len="med"/>
                    </a:lnL>
                    <a:lnR w="12700" cap="flat" cmpd="sng" algn="ctr">
                      <a:solidFill>
                        <a:srgbClr val="B7B8B9"/>
                      </a:solidFill>
                      <a:prstDash val="solid"/>
                      <a:round/>
                      <a:headEnd type="none" w="med" len="med"/>
                      <a:tailEnd type="none" w="med" len="med"/>
                    </a:lnR>
                    <a:lnT w="0" cap="flat" cmpd="sng" algn="ctr">
                      <a:noFill/>
                    </a:lnT>
                    <a:lnB w="12700" cap="flat" cmpd="sng" algn="ctr">
                      <a:solidFill>
                        <a:srgbClr val="B7B8B9"/>
                      </a:solidFill>
                      <a:prstDash val="solid"/>
                      <a:round/>
                      <a:headEnd type="none" w="med" len="med"/>
                      <a:tailEnd type="none" w="med" len="med"/>
                    </a:lnB>
                  </a:tcPr>
                </a:tc>
                <a:tc>
                  <a:txBody>
                    <a:bodyPr/>
                    <a:lstStyle/>
                    <a:p>
                      <a:pPr indent="0" marL="0">
                        <a:lnSpc>
                          <a:spcPts val="1820"/>
                        </a:lnSpc>
                        <a:buNone/>
                      </a:pPr>
                      <a:r>
                        <a:rPr lang="en-US" sz="1300" b="1" dirty="0">
                          <a:solidFill>
                            <a:srgbClr val="2B3445"/>
                          </a:solidFill>
                          <a:latin typeface="IBM Plex Sans" pitchFamily="34" charset="0"/>
                          <a:ea typeface="IBM Plex Sans" pitchFamily="34" charset="-122"/>
                          <a:cs typeface="IBM Plex Sans" pitchFamily="34" charset="-120"/>
                        </a:rPr>
                        <a:t>Evidence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8B9"/>
                      </a:solidFill>
                      <a:prstDash val="solid"/>
                      <a:round/>
                      <a:headEnd type="none" w="med" len="med"/>
                      <a:tailEnd type="none" w="med" len="med"/>
                    </a:lnL>
                    <a:lnR w="12700" cap="flat" cmpd="sng" algn="ctr">
                      <a:solidFill>
                        <a:srgbClr val="B7B8B9"/>
                      </a:solidFill>
                      <a:prstDash val="solid"/>
                      <a:round/>
                      <a:headEnd type="none" w="med" len="med"/>
                      <a:tailEnd type="none" w="med" len="med"/>
                    </a:lnR>
                    <a:lnT w="0" cap="flat" cmpd="sng" algn="ctr">
                      <a:noFill/>
                    </a:lnT>
                    <a:lnB w="12700" cap="flat" cmpd="sng" algn="ctr">
                      <a:solidFill>
                        <a:srgbClr val="B7B8B9"/>
                      </a:solidFill>
                      <a:prstDash val="solid"/>
                      <a:round/>
                      <a:headEnd type="none" w="med" len="med"/>
                      <a:tailEnd type="none" w="med" len="med"/>
                    </a:lnB>
                  </a:tcPr>
                </a:tc>
                <a:tc>
                  <a:txBody>
                    <a:bodyPr/>
                    <a:lstStyle/>
                    <a:p>
                      <a:pPr indent="0" marL="0">
                        <a:lnSpc>
                          <a:spcPts val="1820"/>
                        </a:lnSpc>
                        <a:buNone/>
                      </a:pPr>
                      <a:r>
                        <a:rPr lang="en-US" sz="1300" b="1" dirty="0">
                          <a:solidFill>
                            <a:srgbClr val="2B3445"/>
                          </a:solidFill>
                          <a:latin typeface="IBM Plex Sans" pitchFamily="34" charset="0"/>
                          <a:ea typeface="IBM Plex Sans" pitchFamily="34" charset="-122"/>
                          <a:cs typeface="IBM Plex Sans" pitchFamily="34" charset="-120"/>
                        </a:rPr>
                        <a:t>Refund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8B9"/>
                      </a:solidFill>
                      <a:prstDash val="solid"/>
                      <a:round/>
                      <a:headEnd type="none" w="med" len="med"/>
                      <a:tailEnd type="none" w="med" len="med"/>
                    </a:lnL>
                    <a:lnR w="12700" cap="flat" cmpd="sng" algn="ctr">
                      <a:solidFill>
                        <a:srgbClr val="B7B8B9"/>
                      </a:solidFill>
                      <a:prstDash val="solid"/>
                      <a:round/>
                      <a:headEnd type="none" w="med" len="med"/>
                      <a:tailEnd type="none" w="med" len="med"/>
                    </a:lnR>
                    <a:lnT w="0" cap="flat" cmpd="sng" algn="ctr">
                      <a:noFill/>
                    </a:lnT>
                    <a:lnB w="12700" cap="flat" cmpd="sng" algn="ctr">
                      <a:solidFill>
                        <a:srgbClr val="B7B8B9"/>
                      </a:solidFill>
                      <a:prstDash val="solid"/>
                      <a:round/>
                      <a:headEnd type="none" w="med" len="med"/>
                      <a:tailEnd type="none" w="med" len="med"/>
                    </a:lnB>
                  </a:tcPr>
                </a:tc>
              </a:tr>
              <a:tr h="359321">
                <a:tc>
                  <a:txBody>
                    <a:bodyPr/>
                    <a:lstStyle/>
                    <a:p>
                      <a:pPr indent="0" marL="0">
                        <a:lnSpc>
                          <a:spcPts val="1820"/>
                        </a:lnSpc>
                        <a:buNone/>
                      </a:pPr>
                      <a:r>
                        <a:rPr lang="en-US" sz="1300" dirty="0">
                          <a:solidFill>
                            <a:srgbClr val="2B3445"/>
                          </a:solidFill>
                          <a:latin typeface="IBM Plex Sans" pitchFamily="34" charset="0"/>
                          <a:ea typeface="IBM Plex Sans" pitchFamily="34" charset="-122"/>
                          <a:cs typeface="IBM Plex Sans" pitchFamily="34" charset="-120"/>
                        </a:rPr>
                        <a:t>x402 / MPP receipt</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5C6C7"/>
                      </a:solidFill>
                      <a:prstDash val="solid"/>
                      <a:round/>
                      <a:headEnd type="none" w="med" len="med"/>
                      <a:tailEnd type="none" w="med" len="med"/>
                    </a:lnR>
                    <a:lnT w="12700" cap="flat" cmpd="sng" algn="ctr">
                      <a:solidFill>
                        <a:srgbClr val="B7B8B9"/>
                      </a:solidFill>
                      <a:prstDash val="solid"/>
                      <a:round/>
                      <a:headEnd type="none" w="med" len="med"/>
                      <a:tailEnd type="none" w="med" len="med"/>
                    </a:lnT>
                    <a:lnB w="12700" cap="flat" cmpd="sng" algn="ctr">
                      <a:solidFill>
                        <a:srgbClr val="C5C6C7"/>
                      </a:solidFill>
                      <a:prstDash val="solid"/>
                      <a:round/>
                      <a:headEnd type="none" w="med" len="med"/>
                      <a:tailEnd type="none" w="med" len="med"/>
                    </a:lnB>
                  </a:tcPr>
                </a:tc>
                <a:tc>
                  <a:txBody>
                    <a:bodyPr/>
                    <a:lstStyle/>
                    <a:p>
                      <a:pPr indent="0" marL="0">
                        <a:lnSpc>
                          <a:spcPts val="1820"/>
                        </a:lnSpc>
                        <a:buNone/>
                      </a:pPr>
                      <a:r>
                        <a:rPr lang="en-US" sz="1300" dirty="0">
                          <a:solidFill>
                            <a:srgbClr val="2B3445"/>
                          </a:solidFill>
                          <a:latin typeface="IBM Plex Sans" pitchFamily="34" charset="0"/>
                          <a:ea typeface="IBM Plex Sans" pitchFamily="34" charset="-122"/>
                          <a:cs typeface="IBM Plex Sans" pitchFamily="34" charset="-120"/>
                        </a:rPr>
                        <a:t>the service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6C7"/>
                      </a:solidFill>
                      <a:prstDash val="solid"/>
                      <a:round/>
                      <a:headEnd type="none" w="med" len="med"/>
                      <a:tailEnd type="none" w="med" len="med"/>
                    </a:lnL>
                    <a:lnR w="12700" cap="flat" cmpd="sng" algn="ctr">
                      <a:solidFill>
                        <a:srgbClr val="C5C6C7"/>
                      </a:solidFill>
                      <a:prstDash val="solid"/>
                      <a:round/>
                      <a:headEnd type="none" w="med" len="med"/>
                      <a:tailEnd type="none" w="med" len="med"/>
                    </a:lnR>
                    <a:lnT w="12700" cap="flat" cmpd="sng" algn="ctr">
                      <a:solidFill>
                        <a:srgbClr val="B7B8B9"/>
                      </a:solidFill>
                      <a:prstDash val="solid"/>
                      <a:round/>
                      <a:headEnd type="none" w="med" len="med"/>
                      <a:tailEnd type="none" w="med" len="med"/>
                    </a:lnT>
                    <a:lnB w="12700" cap="flat" cmpd="sng" algn="ctr">
                      <a:solidFill>
                        <a:srgbClr val="C5C6C7"/>
                      </a:solidFill>
                      <a:prstDash val="solid"/>
                      <a:round/>
                      <a:headEnd type="none" w="med" len="med"/>
                      <a:tailEnd type="none" w="med" len="med"/>
                    </a:lnB>
                  </a:tcPr>
                </a:tc>
                <a:tc>
                  <a:txBody>
                    <a:bodyPr/>
                    <a:lstStyle/>
                    <a:p>
                      <a:pPr indent="0" marL="0">
                        <a:lnSpc>
                          <a:spcPts val="1820"/>
                        </a:lnSpc>
                        <a:buNone/>
                      </a:pPr>
                      <a:r>
                        <a:rPr lang="en-US" sz="1300" dirty="0">
                          <a:solidFill>
                            <a:srgbClr val="2B3445"/>
                          </a:solidFill>
                          <a:latin typeface="IBM Plex Sans" pitchFamily="34" charset="0"/>
                          <a:ea typeface="IBM Plex Sans" pitchFamily="34" charset="-122"/>
                          <a:cs typeface="IBM Plex Sans" pitchFamily="34" charset="-120"/>
                        </a:rPr>
                        <a:t>proof the buyer paid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6C7"/>
                      </a:solidFill>
                      <a:prstDash val="solid"/>
                      <a:round/>
                      <a:headEnd type="none" w="med" len="med"/>
                      <a:tailEnd type="none" w="med" len="med"/>
                    </a:lnL>
                    <a:lnR w="12700" cap="flat" cmpd="sng" algn="ctr">
                      <a:solidFill>
                        <a:srgbClr val="C5C6C7"/>
                      </a:solidFill>
                      <a:prstDash val="solid"/>
                      <a:round/>
                      <a:headEnd type="none" w="med" len="med"/>
                      <a:tailEnd type="none" w="med" len="med"/>
                    </a:lnR>
                    <a:lnT w="12700" cap="flat" cmpd="sng" algn="ctr">
                      <a:solidFill>
                        <a:srgbClr val="B7B8B9"/>
                      </a:solidFill>
                      <a:prstDash val="solid"/>
                      <a:round/>
                      <a:headEnd type="none" w="med" len="med"/>
                      <a:tailEnd type="none" w="med" len="med"/>
                    </a:lnT>
                    <a:lnB w="12700" cap="flat" cmpd="sng" algn="ctr">
                      <a:solidFill>
                        <a:srgbClr val="C5C6C7"/>
                      </a:solidFill>
                      <a:prstDash val="solid"/>
                      <a:round/>
                      <a:headEnd type="none" w="med" len="med"/>
                      <a:tailEnd type="none" w="med" len="med"/>
                    </a:lnB>
                  </a:tcPr>
                </a:tc>
                <a:tc>
                  <a:txBody>
                    <a:bodyPr/>
                    <a:lstStyle/>
                    <a:p>
                      <a:pPr indent="0" marL="0">
                        <a:lnSpc>
                          <a:spcPts val="1820"/>
                        </a:lnSpc>
                        <a:buNone/>
                      </a:pPr>
                      <a:r>
                        <a:rPr lang="en-US" sz="1300" dirty="0">
                          <a:solidFill>
                            <a:srgbClr val="2B3445"/>
                          </a:solidFill>
                          <a:latin typeface="IBM Plex Sans" pitchFamily="34" charset="0"/>
                          <a:ea typeface="IBM Plex Sans" pitchFamily="34" charset="-122"/>
                          <a:cs typeface="IBM Plex Sans" pitchFamily="34" charset="-120"/>
                        </a:rPr>
                        <a:t>service's discretion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6C7"/>
                      </a:solidFill>
                      <a:prstDash val="solid"/>
                      <a:round/>
                      <a:headEnd type="none" w="med" len="med"/>
                      <a:tailEnd type="none" w="med" len="med"/>
                    </a:lnL>
                    <a:lnR w="12700" cap="flat" cmpd="sng" algn="ctr">
                      <a:solidFill>
                        <a:srgbClr val="C5C6C7"/>
                      </a:solidFill>
                      <a:prstDash val="solid"/>
                      <a:round/>
                      <a:headEnd type="none" w="med" len="med"/>
                      <a:tailEnd type="none" w="med" len="med"/>
                    </a:lnR>
                    <a:lnT w="12700" cap="flat" cmpd="sng" algn="ctr">
                      <a:solidFill>
                        <a:srgbClr val="B7B8B9"/>
                      </a:solidFill>
                      <a:prstDash val="solid"/>
                      <a:round/>
                      <a:headEnd type="none" w="med" len="med"/>
                      <a:tailEnd type="none" w="med" len="med"/>
                    </a:lnT>
                    <a:lnB w="12700" cap="flat" cmpd="sng" algn="ctr">
                      <a:solidFill>
                        <a:srgbClr val="C5C6C7"/>
                      </a:solidFill>
                      <a:prstDash val="solid"/>
                      <a:round/>
                      <a:headEnd type="none" w="med" len="med"/>
                      <a:tailEnd type="none" w="med" len="med"/>
                    </a:lnB>
                  </a:tcPr>
                </a:tc>
              </a:tr>
              <a:tr h="359321">
                <a:tc>
                  <a:txBody>
                    <a:bodyPr/>
                    <a:lstStyle/>
                    <a:p>
                      <a:pPr indent="0" marL="0">
                        <a:lnSpc>
                          <a:spcPts val="1820"/>
                        </a:lnSpc>
                        <a:buNone/>
                      </a:pPr>
                      <a:r>
                        <a:rPr lang="en-US" sz="1300" dirty="0">
                          <a:solidFill>
                            <a:srgbClr val="2B3445"/>
                          </a:solidFill>
                          <a:latin typeface="IBM Plex Sans" pitchFamily="34" charset="0"/>
                          <a:ea typeface="IBM Plex Sans" pitchFamily="34" charset="-122"/>
                          <a:cs typeface="IBM Plex Sans" pitchFamily="34" charset="-120"/>
                        </a:rPr>
                        <a:t>Bursar (same track)</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5C6C7"/>
                      </a:solidFill>
                      <a:prstDash val="solid"/>
                      <a:round/>
                      <a:headEnd type="none" w="med" len="med"/>
                      <a:tailEnd type="none" w="med" len="med"/>
                    </a:lnR>
                    <a:lnT w="12700" cap="flat" cmpd="sng" algn="ctr">
                      <a:solidFill>
                        <a:srgbClr val="C5C6C7"/>
                      </a:solidFill>
                      <a:prstDash val="solid"/>
                      <a:round/>
                      <a:headEnd type="none" w="med" len="med"/>
                      <a:tailEnd type="none" w="med" len="med"/>
                    </a:lnT>
                    <a:lnB w="12700" cap="flat" cmpd="sng" algn="ctr">
                      <a:solidFill>
                        <a:srgbClr val="C5C6C7"/>
                      </a:solidFill>
                      <a:prstDash val="solid"/>
                      <a:round/>
                      <a:headEnd type="none" w="med" len="med"/>
                      <a:tailEnd type="none" w="med" len="med"/>
                    </a:lnB>
                  </a:tcPr>
                </a:tc>
                <a:tc>
                  <a:txBody>
                    <a:bodyPr/>
                    <a:lstStyle/>
                    <a:p>
                      <a:pPr indent="0" marL="0">
                        <a:lnSpc>
                          <a:spcPts val="1820"/>
                        </a:lnSpc>
                        <a:buNone/>
                      </a:pPr>
                      <a:r>
                        <a:rPr lang="en-US" sz="1300" dirty="0">
                          <a:solidFill>
                            <a:srgbClr val="2B3445"/>
                          </a:solidFill>
                          <a:latin typeface="IBM Plex Sans" pitchFamily="34" charset="0"/>
                          <a:ea typeface="IBM Plex Sans" pitchFamily="34" charset="-122"/>
                          <a:cs typeface="IBM Plex Sans" pitchFamily="34" charset="-120"/>
                        </a:rPr>
                        <a:t>out of scope: invoicing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6C7"/>
                      </a:solidFill>
                      <a:prstDash val="solid"/>
                      <a:round/>
                      <a:headEnd type="none" w="med" len="med"/>
                      <a:tailEnd type="none" w="med" len="med"/>
                    </a:lnL>
                    <a:lnR w="12700" cap="flat" cmpd="sng" algn="ctr">
                      <a:solidFill>
                        <a:srgbClr val="C5C6C7"/>
                      </a:solidFill>
                      <a:prstDash val="solid"/>
                      <a:round/>
                      <a:headEnd type="none" w="med" len="med"/>
                      <a:tailEnd type="none" w="med" len="med"/>
                    </a:lnR>
                    <a:lnT w="12700" cap="flat" cmpd="sng" algn="ctr">
                      <a:solidFill>
                        <a:srgbClr val="C5C6C7"/>
                      </a:solidFill>
                      <a:prstDash val="solid"/>
                      <a:round/>
                      <a:headEnd type="none" w="med" len="med"/>
                      <a:tailEnd type="none" w="med" len="med"/>
                    </a:lnT>
                    <a:lnB w="12700" cap="flat" cmpd="sng" algn="ctr">
                      <a:solidFill>
                        <a:srgbClr val="C5C6C7"/>
                      </a:solidFill>
                      <a:prstDash val="solid"/>
                      <a:round/>
                      <a:headEnd type="none" w="med" len="med"/>
                      <a:tailEnd type="none" w="med" len="med"/>
                    </a:lnB>
                  </a:tcPr>
                </a:tc>
                <a:tc>
                  <a:txBody>
                    <a:bodyPr/>
                    <a:lstStyle/>
                    <a:p>
                      <a:pPr indent="0" marL="0">
                        <a:lnSpc>
                          <a:spcPts val="1820"/>
                        </a:lnSpc>
                        <a:buNone/>
                      </a:pPr>
                      <a:r>
                        <a:rPr lang="en-US" sz="1300" dirty="0">
                          <a:solidFill>
                            <a:srgbClr val="2B3445"/>
                          </a:solidFill>
                          <a:latin typeface="IBM Plex Sans" pitchFamily="34" charset="0"/>
                          <a:ea typeface="IBM Plex Sans" pitchFamily="34" charset="-122"/>
                          <a:cs typeface="IBM Plex Sans" pitchFamily="34" charset="-120"/>
                        </a:rPr>
                        <a:t>payment matched to invoice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6C7"/>
                      </a:solidFill>
                      <a:prstDash val="solid"/>
                      <a:round/>
                      <a:headEnd type="none" w="med" len="med"/>
                      <a:tailEnd type="none" w="med" len="med"/>
                    </a:lnL>
                    <a:lnR w="12700" cap="flat" cmpd="sng" algn="ctr">
                      <a:solidFill>
                        <a:srgbClr val="C5C6C7"/>
                      </a:solidFill>
                      <a:prstDash val="solid"/>
                      <a:round/>
                      <a:headEnd type="none" w="med" len="med"/>
                      <a:tailEnd type="none" w="med" len="med"/>
                    </a:lnR>
                    <a:lnT w="12700" cap="flat" cmpd="sng" algn="ctr">
                      <a:solidFill>
                        <a:srgbClr val="C5C6C7"/>
                      </a:solidFill>
                      <a:prstDash val="solid"/>
                      <a:round/>
                      <a:headEnd type="none" w="med" len="med"/>
                      <a:tailEnd type="none" w="med" len="med"/>
                    </a:lnT>
                    <a:lnB w="12700" cap="flat" cmpd="sng" algn="ctr">
                      <a:solidFill>
                        <a:srgbClr val="C5C6C7"/>
                      </a:solidFill>
                      <a:prstDash val="solid"/>
                      <a:round/>
                      <a:headEnd type="none" w="med" len="med"/>
                      <a:tailEnd type="none" w="med" len="med"/>
                    </a:lnB>
                  </a:tcPr>
                </a:tc>
                <a:tc>
                  <a:txBody>
                    <a:bodyPr/>
                    <a:lstStyle/>
                    <a:p>
                      <a:pPr indent="0" marL="0">
                        <a:lnSpc>
                          <a:spcPts val="1820"/>
                        </a:lnSpc>
                        <a:buNone/>
                      </a:pPr>
                      <a:r>
                        <a:rPr lang="en-US" sz="1300" dirty="0">
                          <a:solidFill>
                            <a:srgbClr val="2B3445"/>
                          </a:solidFill>
                          <a:latin typeface="IBM Plex Sans" pitchFamily="34" charset="0"/>
                          <a:ea typeface="IBM Plex Sans" pitchFamily="34" charset="-122"/>
                          <a:cs typeface="IBM Plex Sans" pitchFamily="34" charset="-120"/>
                        </a:rPr>
                        <a:t>none; never holds funds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6C7"/>
                      </a:solidFill>
                      <a:prstDash val="solid"/>
                      <a:round/>
                      <a:headEnd type="none" w="med" len="med"/>
                      <a:tailEnd type="none" w="med" len="med"/>
                    </a:lnL>
                    <a:lnR w="12700" cap="flat" cmpd="sng" algn="ctr">
                      <a:solidFill>
                        <a:srgbClr val="C5C6C7"/>
                      </a:solidFill>
                      <a:prstDash val="solid"/>
                      <a:round/>
                      <a:headEnd type="none" w="med" len="med"/>
                      <a:tailEnd type="none" w="med" len="med"/>
                    </a:lnR>
                    <a:lnT w="12700" cap="flat" cmpd="sng" algn="ctr">
                      <a:solidFill>
                        <a:srgbClr val="C5C6C7"/>
                      </a:solidFill>
                      <a:prstDash val="solid"/>
                      <a:round/>
                      <a:headEnd type="none" w="med" len="med"/>
                      <a:tailEnd type="none" w="med" len="med"/>
                    </a:lnT>
                    <a:lnB w="12700" cap="flat" cmpd="sng" algn="ctr">
                      <a:solidFill>
                        <a:srgbClr val="C5C6C7"/>
                      </a:solidFill>
                      <a:prstDash val="solid"/>
                      <a:round/>
                      <a:headEnd type="none" w="med" len="med"/>
                      <a:tailEnd type="none" w="med" len="med"/>
                    </a:lnB>
                  </a:tcPr>
                </a:tc>
              </a:tr>
              <a:tr h="590451">
                <a:tc>
                  <a:txBody>
                    <a:bodyPr/>
                    <a:lstStyle/>
                    <a:p>
                      <a:pPr indent="0" marL="0">
                        <a:lnSpc>
                          <a:spcPts val="1820"/>
                        </a:lnSpc>
                        <a:buNone/>
                      </a:pPr>
                      <a:r>
                        <a:rPr lang="en-US" sz="1300" dirty="0">
                          <a:solidFill>
                            <a:srgbClr val="2B3445"/>
                          </a:solidFill>
                          <a:latin typeface="IBM Plex Sans" pitchFamily="34" charset="0"/>
                          <a:ea typeface="IBM Plex Sans" pitchFamily="34" charset="-122"/>
                          <a:cs typeface="IBM Plex Sans" pitchFamily="34" charset="-120"/>
                        </a:rPr>
                        <a:t>Recourse</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5C6C7"/>
                      </a:solidFill>
                      <a:prstDash val="solid"/>
                      <a:round/>
                      <a:headEnd type="none" w="med" len="med"/>
                      <a:tailEnd type="none" w="med" len="med"/>
                    </a:lnR>
                    <a:lnT w="12700" cap="flat" cmpd="sng" algn="ctr">
                      <a:solidFill>
                        <a:srgbClr val="C5C6C7"/>
                      </a:solidFill>
                      <a:prstDash val="solid"/>
                      <a:round/>
                      <a:headEnd type="none" w="med" len="med"/>
                      <a:tailEnd type="none" w="med" len="med"/>
                    </a:lnT>
                    <a:lnB w="12700" cap="flat" cmpd="sng" algn="ctr">
                      <a:solidFill>
                        <a:srgbClr val="C5C6C7"/>
                      </a:solidFill>
                      <a:prstDash val="solid"/>
                      <a:round/>
                      <a:headEnd type="none" w="med" len="med"/>
                      <a:tailEnd type="none" w="med" len="med"/>
                    </a:lnB>
                  </a:tcPr>
                </a:tc>
                <a:tc>
                  <a:txBody>
                    <a:bodyPr/>
                    <a:lstStyle/>
                    <a:p>
                      <a:pPr indent="0" marL="0">
                        <a:lnSpc>
                          <a:spcPts val="1820"/>
                        </a:lnSpc>
                        <a:buNone/>
                      </a:pPr>
                      <a:r>
                        <a:rPr lang="en-US" sz="1300" dirty="0">
                          <a:solidFill>
                            <a:srgbClr val="2B3445"/>
                          </a:solidFill>
                          <a:latin typeface="IBM Plex Sans" pitchFamily="34" charset="0"/>
                          <a:ea typeface="IBM Plex Sans" pitchFamily="34" charset="-122"/>
                          <a:cs typeface="IBM Plex Sans" pitchFamily="34" charset="-120"/>
                        </a:rPr>
                        <a:t>Chainlink enclave, after a bonded dispute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6C7"/>
                      </a:solidFill>
                      <a:prstDash val="solid"/>
                      <a:round/>
                      <a:headEnd type="none" w="med" len="med"/>
                      <a:tailEnd type="none" w="med" len="med"/>
                    </a:lnL>
                    <a:lnR w="12700" cap="flat" cmpd="sng" algn="ctr">
                      <a:solidFill>
                        <a:srgbClr val="C5C6C7"/>
                      </a:solidFill>
                      <a:prstDash val="solid"/>
                      <a:round/>
                      <a:headEnd type="none" w="med" len="med"/>
                      <a:tailEnd type="none" w="med" len="med"/>
                    </a:lnR>
                    <a:lnT w="12700" cap="flat" cmpd="sng" algn="ctr">
                      <a:solidFill>
                        <a:srgbClr val="C5C6C7"/>
                      </a:solidFill>
                      <a:prstDash val="solid"/>
                      <a:round/>
                      <a:headEnd type="none" w="med" len="med"/>
                      <a:tailEnd type="none" w="med" len="med"/>
                    </a:lnT>
                    <a:lnB w="12700" cap="flat" cmpd="sng" algn="ctr">
                      <a:solidFill>
                        <a:srgbClr val="C5C6C7"/>
                      </a:solidFill>
                      <a:prstDash val="solid"/>
                      <a:round/>
                      <a:headEnd type="none" w="med" len="med"/>
                      <a:tailEnd type="none" w="med" len="med"/>
                    </a:lnB>
                  </a:tcPr>
                </a:tc>
                <a:tc>
                  <a:txBody>
                    <a:bodyPr/>
                    <a:lstStyle/>
                    <a:p>
                      <a:pPr indent="0" marL="0">
                        <a:lnSpc>
                          <a:spcPts val="1820"/>
                        </a:lnSpc>
                        <a:buNone/>
                      </a:pPr>
                      <a:r>
                        <a:rPr lang="en-US" sz="1300" dirty="0">
                          <a:solidFill>
                            <a:srgbClr val="2B3445"/>
                          </a:solidFill>
                          <a:latin typeface="IBM Plex Sans" pitchFamily="34" charset="0"/>
                          <a:ea typeface="IBM Plex Sans" pitchFamily="34" charset="-122"/>
                          <a:cs typeface="IBM Plex Sans" pitchFamily="34" charset="-120"/>
                        </a:rPr>
                        <a:t>seller's own signature + SLA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6C7"/>
                      </a:solidFill>
                      <a:prstDash val="solid"/>
                      <a:round/>
                      <a:headEnd type="none" w="med" len="med"/>
                      <a:tailEnd type="none" w="med" len="med"/>
                    </a:lnL>
                    <a:lnR w="12700" cap="flat" cmpd="sng" algn="ctr">
                      <a:solidFill>
                        <a:srgbClr val="C5C6C7"/>
                      </a:solidFill>
                      <a:prstDash val="solid"/>
                      <a:round/>
                      <a:headEnd type="none" w="med" len="med"/>
                      <a:tailEnd type="none" w="med" len="med"/>
                    </a:lnR>
                    <a:lnT w="12700" cap="flat" cmpd="sng" algn="ctr">
                      <a:solidFill>
                        <a:srgbClr val="C5C6C7"/>
                      </a:solidFill>
                      <a:prstDash val="solid"/>
                      <a:round/>
                      <a:headEnd type="none" w="med" len="med"/>
                      <a:tailEnd type="none" w="med" len="med"/>
                    </a:lnT>
                    <a:lnB w="12700" cap="flat" cmpd="sng" algn="ctr">
                      <a:solidFill>
                        <a:srgbClr val="C5C6C7"/>
                      </a:solidFill>
                      <a:prstDash val="solid"/>
                      <a:round/>
                      <a:headEnd type="none" w="med" len="med"/>
                      <a:tailEnd type="none" w="med" len="med"/>
                    </a:lnB>
                  </a:tcPr>
                </a:tc>
                <a:tc>
                  <a:txBody>
                    <a:bodyPr/>
                    <a:lstStyle/>
                    <a:p>
                      <a:pPr indent="0" marL="0">
                        <a:lnSpc>
                          <a:spcPts val="1820"/>
                        </a:lnSpc>
                        <a:buNone/>
                      </a:pPr>
                      <a:r>
                        <a:rPr lang="en-US" sz="1300" dirty="0">
                          <a:solidFill>
                            <a:srgbClr val="2B3445"/>
                          </a:solidFill>
                          <a:latin typeface="IBM Plex Sans" pitchFamily="34" charset="0"/>
                          <a:ea typeface="IBM Plex Sans" pitchFamily="34" charset="-122"/>
                          <a:cs typeface="IBM Plex Sans" pitchFamily="34" charset="-120"/>
                        </a:rPr>
                        <a:t>escrow pays the dispute winner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6C7"/>
                      </a:solidFill>
                      <a:prstDash val="solid"/>
                      <a:round/>
                      <a:headEnd type="none" w="med" len="med"/>
                      <a:tailEnd type="none" w="med" len="med"/>
                    </a:lnL>
                    <a:lnR w="12700" cap="flat" cmpd="sng" algn="ctr">
                      <a:solidFill>
                        <a:srgbClr val="C5C6C7"/>
                      </a:solidFill>
                      <a:prstDash val="solid"/>
                      <a:round/>
                      <a:headEnd type="none" w="med" len="med"/>
                      <a:tailEnd type="none" w="med" len="med"/>
                    </a:lnR>
                    <a:lnT w="12700" cap="flat" cmpd="sng" algn="ctr">
                      <a:solidFill>
                        <a:srgbClr val="C5C6C7"/>
                      </a:solidFill>
                      <a:prstDash val="solid"/>
                      <a:round/>
                      <a:headEnd type="none" w="med" len="med"/>
                      <a:tailEnd type="none" w="med" len="med"/>
                    </a:lnT>
                    <a:lnB w="12700" cap="flat" cmpd="sng" algn="ctr">
                      <a:solidFill>
                        <a:srgbClr val="C5C6C7"/>
                      </a:solidFill>
                      <a:prstDash val="solid"/>
                      <a:round/>
                      <a:headEnd type="none" w="med" len="med"/>
                      <a:tailEnd type="none" w="med" len="med"/>
                    </a:lnB>
                  </a:tcPr>
                </a:tc>
              </a:tr>
              <a:tr h="359321">
                <a:tc>
                  <a:txBody>
                    <a:bodyPr/>
                    <a:lstStyle/>
                    <a:p>
                      <a:pPr indent="0" marL="0">
                        <a:lnSpc>
                          <a:spcPts val="1820"/>
                        </a:lnSpc>
                        <a:buNone/>
                      </a:pPr>
                      <a:r>
                        <a:rPr lang="en-US" sz="1300" dirty="0">
                          <a:solidFill>
                            <a:srgbClr val="2B3445"/>
                          </a:solidFill>
                          <a:latin typeface="IBM Plex Sans" pitchFamily="34" charset="0"/>
                          <a:ea typeface="IBM Plex Sans" pitchFamily="34" charset="-122"/>
                          <a:cs typeface="IBM Plex Sans" pitchFamily="34" charset="-120"/>
                        </a:rPr>
                        <a:t>ERC-8183 (draft)</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5C6C7"/>
                      </a:solidFill>
                      <a:prstDash val="solid"/>
                      <a:round/>
                      <a:headEnd type="none" w="med" len="med"/>
                      <a:tailEnd type="none" w="med" len="med"/>
                    </a:lnR>
                    <a:lnT w="12700" cap="flat" cmpd="sng" algn="ctr">
                      <a:solidFill>
                        <a:srgbClr val="C5C6C7"/>
                      </a:solidFill>
                      <a:prstDash val="solid"/>
                      <a:round/>
                      <a:headEnd type="none" w="med" len="med"/>
                      <a:tailEnd type="none" w="med" len="med"/>
                    </a:lnT>
                    <a:lnB w="12700" cap="flat" cmpd="sng" algn="ctr">
                      <a:solidFill>
                        <a:srgbClr val="C5C6C7"/>
                      </a:solidFill>
                      <a:prstDash val="solid"/>
                      <a:round/>
                      <a:headEnd type="none" w="med" len="med"/>
                      <a:tailEnd type="none" w="med" len="med"/>
                    </a:lnB>
                  </a:tcPr>
                </a:tc>
                <a:tc>
                  <a:txBody>
                    <a:bodyPr/>
                    <a:lstStyle/>
                    <a:p>
                      <a:pPr indent="0" marL="0">
                        <a:lnSpc>
                          <a:spcPts val="1820"/>
                        </a:lnSpc>
                        <a:buNone/>
                      </a:pPr>
                      <a:r>
                        <a:rPr lang="en-US" sz="1300" dirty="0">
                          <a:solidFill>
                            <a:srgbClr val="2B3445"/>
                          </a:solidFill>
                          <a:latin typeface="IBM Plex Sans" pitchFamily="34" charset="0"/>
                          <a:ea typeface="IBM Plex Sans" pitchFamily="34" charset="-122"/>
                          <a:cs typeface="IBM Plex Sans" pitchFamily="34" charset="-120"/>
                        </a:rPr>
                        <a:t>one evaluator per job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6C7"/>
                      </a:solidFill>
                      <a:prstDash val="solid"/>
                      <a:round/>
                      <a:headEnd type="none" w="med" len="med"/>
                      <a:tailEnd type="none" w="med" len="med"/>
                    </a:lnL>
                    <a:lnR w="12700" cap="flat" cmpd="sng" algn="ctr">
                      <a:solidFill>
                        <a:srgbClr val="C5C6C7"/>
                      </a:solidFill>
                      <a:prstDash val="solid"/>
                      <a:round/>
                      <a:headEnd type="none" w="med" len="med"/>
                      <a:tailEnd type="none" w="med" len="med"/>
                    </a:lnR>
                    <a:lnT w="12700" cap="flat" cmpd="sng" algn="ctr">
                      <a:solidFill>
                        <a:srgbClr val="C5C6C7"/>
                      </a:solidFill>
                      <a:prstDash val="solid"/>
                      <a:round/>
                      <a:headEnd type="none" w="med" len="med"/>
                      <a:tailEnd type="none" w="med" len="med"/>
                    </a:lnT>
                    <a:lnB w="12700" cap="flat" cmpd="sng" algn="ctr">
                      <a:solidFill>
                        <a:srgbClr val="C5C6C7"/>
                      </a:solidFill>
                      <a:prstDash val="solid"/>
                      <a:round/>
                      <a:headEnd type="none" w="med" len="med"/>
                      <a:tailEnd type="none" w="med" len="med"/>
                    </a:lnB>
                  </a:tcPr>
                </a:tc>
                <a:tc>
                  <a:txBody>
                    <a:bodyPr/>
                    <a:lstStyle/>
                    <a:p>
                      <a:pPr indent="0" marL="0">
                        <a:lnSpc>
                          <a:spcPts val="1820"/>
                        </a:lnSpc>
                        <a:buNone/>
                      </a:pPr>
                      <a:r>
                        <a:rPr lang="en-US" sz="1300" dirty="0">
                          <a:solidFill>
                            <a:srgbClr val="2B3445"/>
                          </a:solidFill>
                          <a:latin typeface="IBM Plex Sans" pitchFamily="34" charset="0"/>
                          <a:ea typeface="IBM Plex Sans" pitchFamily="34" charset="-122"/>
                          <a:cs typeface="IBM Plex Sans" pitchFamily="34" charset="-120"/>
                        </a:rPr>
                        <a:t>out of scope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6C7"/>
                      </a:solidFill>
                      <a:prstDash val="solid"/>
                      <a:round/>
                      <a:headEnd type="none" w="med" len="med"/>
                      <a:tailEnd type="none" w="med" len="med"/>
                    </a:lnL>
                    <a:lnR w="12700" cap="flat" cmpd="sng" algn="ctr">
                      <a:solidFill>
                        <a:srgbClr val="C5C6C7"/>
                      </a:solidFill>
                      <a:prstDash val="solid"/>
                      <a:round/>
                      <a:headEnd type="none" w="med" len="med"/>
                      <a:tailEnd type="none" w="med" len="med"/>
                    </a:lnR>
                    <a:lnT w="12700" cap="flat" cmpd="sng" algn="ctr">
                      <a:solidFill>
                        <a:srgbClr val="C5C6C7"/>
                      </a:solidFill>
                      <a:prstDash val="solid"/>
                      <a:round/>
                      <a:headEnd type="none" w="med" len="med"/>
                      <a:tailEnd type="none" w="med" len="med"/>
                    </a:lnT>
                    <a:lnB w="12700" cap="flat" cmpd="sng" algn="ctr">
                      <a:solidFill>
                        <a:srgbClr val="C5C6C7"/>
                      </a:solidFill>
                      <a:prstDash val="solid"/>
                      <a:round/>
                      <a:headEnd type="none" w="med" len="med"/>
                      <a:tailEnd type="none" w="med" len="med"/>
                    </a:lnB>
                  </a:tcPr>
                </a:tc>
                <a:tc>
                  <a:txBody>
                    <a:bodyPr/>
                    <a:lstStyle/>
                    <a:p>
                      <a:pPr indent="0" marL="0">
                        <a:lnSpc>
                          <a:spcPts val="1820"/>
                        </a:lnSpc>
                        <a:buNone/>
                      </a:pPr>
                      <a:r>
                        <a:rPr lang="en-US" sz="1300" dirty="0">
                          <a:solidFill>
                            <a:srgbClr val="2B3445"/>
                          </a:solidFill>
                          <a:latin typeface="IBM Plex Sans" pitchFamily="34" charset="0"/>
                          <a:ea typeface="IBM Plex Sans" pitchFamily="34" charset="-122"/>
                          <a:cs typeface="IBM Plex Sans" pitchFamily="34" charset="-120"/>
                        </a:rPr>
                        <a:t>evaluator rejects, or expiry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6C7"/>
                      </a:solidFill>
                      <a:prstDash val="solid"/>
                      <a:round/>
                      <a:headEnd type="none" w="med" len="med"/>
                      <a:tailEnd type="none" w="med" len="med"/>
                    </a:lnL>
                    <a:lnR w="12700" cap="flat" cmpd="sng" algn="ctr">
                      <a:solidFill>
                        <a:srgbClr val="C5C6C7"/>
                      </a:solidFill>
                      <a:prstDash val="solid"/>
                      <a:round/>
                      <a:headEnd type="none" w="med" len="med"/>
                      <a:tailEnd type="none" w="med" len="med"/>
                    </a:lnR>
                    <a:lnT w="12700" cap="flat" cmpd="sng" algn="ctr">
                      <a:solidFill>
                        <a:srgbClr val="C5C6C7"/>
                      </a:solidFill>
                      <a:prstDash val="solid"/>
                      <a:round/>
                      <a:headEnd type="none" w="med" len="med"/>
                      <a:tailEnd type="none" w="med" len="med"/>
                    </a:lnT>
                    <a:lnB w="12700" cap="flat" cmpd="sng" algn="ctr">
                      <a:solidFill>
                        <a:srgbClr val="C5C6C7"/>
                      </a:solidFill>
                      <a:prstDash val="solid"/>
                      <a:round/>
                      <a:headEnd type="none" w="med" len="med"/>
                      <a:tailEnd type="none" w="med" len="med"/>
                    </a:lnB>
                  </a:tcPr>
                </a:tc>
              </a:tr>
              <a:tr h="590451">
                <a:tc>
                  <a:txBody>
                    <a:bodyPr/>
                    <a:lstStyle/>
                    <a:p>
                      <a:pPr indent="0" marL="0">
                        <a:lnSpc>
                          <a:spcPts val="1820"/>
                        </a:lnSpc>
                        <a:buNone/>
                      </a:pPr>
                      <a:r>
                        <a:rPr lang="en-US" sz="1300" dirty="0">
                          <a:solidFill>
                            <a:srgbClr val="2B3445"/>
                          </a:solidFill>
                          <a:latin typeface="IBM Plex Sans" pitchFamily="34" charset="0"/>
                          <a:ea typeface="IBM Plex Sans" pitchFamily="34" charset="-122"/>
                          <a:cs typeface="IBM Plex Sans" pitchFamily="34" charset="-120"/>
                        </a:rPr>
                        <a:t>Fermata</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B0B9C6"/>
                      </a:solidFill>
                      <a:prstDash val="solid"/>
                      <a:round/>
                      <a:headEnd type="none" w="med" len="med"/>
                      <a:tailEnd type="none" w="med" len="med"/>
                    </a:lnR>
                    <a:lnT w="12700" cap="flat" cmpd="sng" algn="ctr">
                      <a:solidFill>
                        <a:srgbClr val="C5C6C7"/>
                      </a:solidFill>
                      <a:prstDash val="solid"/>
                      <a:round/>
                      <a:headEnd type="none" w="med" len="med"/>
                      <a:tailEnd type="none" w="med" len="med"/>
                    </a:lnT>
                    <a:lnB w="12700" cap="flat" cmpd="sng" algn="ctr">
                      <a:solidFill>
                        <a:srgbClr val="B0B9C6"/>
                      </a:solidFill>
                      <a:prstDash val="solid"/>
                      <a:round/>
                      <a:headEnd type="none" w="med" len="med"/>
                      <a:tailEnd type="none" w="med" len="med"/>
                    </a:lnB>
                    <a:solidFill>
                      <a:srgbClr val="DCE8F8"/>
                    </a:solidFill>
                  </a:tcPr>
                </a:tc>
                <a:tc>
                  <a:txBody>
                    <a:bodyPr/>
                    <a:lstStyle/>
                    <a:p>
                      <a:pPr indent="0" marL="0">
                        <a:lnSpc>
                          <a:spcPts val="1820"/>
                        </a:lnSpc>
                        <a:buNone/>
                      </a:pPr>
                      <a:r>
                        <a:rPr lang="en-US" sz="1300" dirty="0">
                          <a:solidFill>
                            <a:srgbClr val="2B3445"/>
                          </a:solidFill>
                          <a:latin typeface="IBM Plex Sans" pitchFamily="34" charset="0"/>
                          <a:ea typeface="IBM Plex Sans" pitchFamily="34" charset="-122"/>
                          <a:cs typeface="IBM Plex Sans" pitchFamily="34" charset="-120"/>
                        </a:rPr>
                        <a:t>one verifier per service (v1: ours)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9C6"/>
                      </a:solidFill>
                      <a:prstDash val="solid"/>
                      <a:round/>
                      <a:headEnd type="none" w="med" len="med"/>
                      <a:tailEnd type="none" w="med" len="med"/>
                    </a:lnL>
                    <a:lnR w="12700" cap="flat" cmpd="sng" algn="ctr">
                      <a:solidFill>
                        <a:srgbClr val="B0B9C6"/>
                      </a:solidFill>
                      <a:prstDash val="solid"/>
                      <a:round/>
                      <a:headEnd type="none" w="med" len="med"/>
                      <a:tailEnd type="none" w="med" len="med"/>
                    </a:lnR>
                    <a:lnT w="12700" cap="flat" cmpd="sng" algn="ctr">
                      <a:solidFill>
                        <a:srgbClr val="C5C6C7"/>
                      </a:solidFill>
                      <a:prstDash val="solid"/>
                      <a:round/>
                      <a:headEnd type="none" w="med" len="med"/>
                      <a:tailEnd type="none" w="med" len="med"/>
                    </a:lnT>
                    <a:lnB w="12700" cap="flat" cmpd="sng" algn="ctr">
                      <a:solidFill>
                        <a:srgbClr val="B0B9C6"/>
                      </a:solidFill>
                      <a:prstDash val="solid"/>
                      <a:round/>
                      <a:headEnd type="none" w="med" len="med"/>
                      <a:tailEnd type="none" w="med" len="med"/>
                    </a:lnB>
                    <a:solidFill>
                      <a:srgbClr val="DCE8F8"/>
                    </a:solidFill>
                  </a:tcPr>
                </a:tc>
                <a:tc>
                  <a:txBody>
                    <a:bodyPr/>
                    <a:lstStyle/>
                    <a:p>
                      <a:pPr indent="0" marL="0">
                        <a:lnSpc>
                          <a:spcPts val="1820"/>
                        </a:lnSpc>
                        <a:buNone/>
                      </a:pPr>
                      <a:r>
                        <a:rPr lang="en-US" sz="1300" dirty="0">
                          <a:solidFill>
                            <a:srgbClr val="2B3445"/>
                          </a:solidFill>
                          <a:latin typeface="IBM Plex Sans" pitchFamily="34" charset="0"/>
                          <a:ea typeface="IBM Plex Sans" pitchFamily="34" charset="-122"/>
                          <a:cs typeface="IBM Plex Sans" pitchFamily="34" charset="-120"/>
                        </a:rPr>
                        <a:t>TLSNotary record of the vendor's own TLS session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9C6"/>
                      </a:solidFill>
                      <a:prstDash val="solid"/>
                      <a:round/>
                      <a:headEnd type="none" w="med" len="med"/>
                      <a:tailEnd type="none" w="med" len="med"/>
                    </a:lnL>
                    <a:lnR w="12700" cap="flat" cmpd="sng" algn="ctr">
                      <a:solidFill>
                        <a:srgbClr val="B0B9C6"/>
                      </a:solidFill>
                      <a:prstDash val="solid"/>
                      <a:round/>
                      <a:headEnd type="none" w="med" len="med"/>
                      <a:tailEnd type="none" w="med" len="med"/>
                    </a:lnR>
                    <a:lnT w="12700" cap="flat" cmpd="sng" algn="ctr">
                      <a:solidFill>
                        <a:srgbClr val="C5C6C7"/>
                      </a:solidFill>
                      <a:prstDash val="solid"/>
                      <a:round/>
                      <a:headEnd type="none" w="med" len="med"/>
                      <a:tailEnd type="none" w="med" len="med"/>
                    </a:lnT>
                    <a:lnB w="12700" cap="flat" cmpd="sng" algn="ctr">
                      <a:solidFill>
                        <a:srgbClr val="B0B9C6"/>
                      </a:solidFill>
                      <a:prstDash val="solid"/>
                      <a:round/>
                      <a:headEnd type="none" w="med" len="med"/>
                      <a:tailEnd type="none" w="med" len="med"/>
                    </a:lnB>
                    <a:solidFill>
                      <a:srgbClr val="DCE8F8"/>
                    </a:solidFill>
                  </a:tcPr>
                </a:tc>
                <a:tc>
                  <a:txBody>
                    <a:bodyPr/>
                    <a:lstStyle/>
                    <a:p>
                      <a:pPr indent="0" marL="0">
                        <a:lnSpc>
                          <a:spcPts val="1820"/>
                        </a:lnSpc>
                        <a:buNone/>
                      </a:pPr>
                      <a:r>
                        <a:rPr lang="en-US" sz="1300" dirty="0">
                          <a:solidFill>
                            <a:srgbClr val="2B3445"/>
                          </a:solidFill>
                          <a:latin typeface="IBM Plex Sans" pitchFamily="34" charset="0"/>
                          <a:ea typeface="IBM Plex Sans" pitchFamily="34" charset="-122"/>
                          <a:cs typeface="IBM Plex Sans" pitchFamily="34" charset="-120"/>
                        </a:rPr>
                        <a:t>automatic: proven failure, or no proof in time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9C6"/>
                      </a:solidFill>
                      <a:prstDash val="solid"/>
                      <a:round/>
                      <a:headEnd type="none" w="med" len="med"/>
                      <a:tailEnd type="none" w="med" len="med"/>
                    </a:lnL>
                    <a:lnR w="12700" cap="flat" cmpd="sng" algn="ctr">
                      <a:solidFill>
                        <a:srgbClr val="B0B9C6"/>
                      </a:solidFill>
                      <a:prstDash val="solid"/>
                      <a:round/>
                      <a:headEnd type="none" w="med" len="med"/>
                      <a:tailEnd type="none" w="med" len="med"/>
                    </a:lnR>
                    <a:lnT w="12700" cap="flat" cmpd="sng" algn="ctr">
                      <a:solidFill>
                        <a:srgbClr val="C5C6C7"/>
                      </a:solidFill>
                      <a:prstDash val="solid"/>
                      <a:round/>
                      <a:headEnd type="none" w="med" len="med"/>
                      <a:tailEnd type="none" w="med" len="med"/>
                    </a:lnT>
                    <a:lnB w="12700" cap="flat" cmpd="sng" algn="ctr">
                      <a:solidFill>
                        <a:srgbClr val="B0B9C6"/>
                      </a:solidFill>
                      <a:prstDash val="solid"/>
                      <a:round/>
                      <a:headEnd type="none" w="med" len="med"/>
                      <a:tailEnd type="none" w="med" len="med"/>
                    </a:lnB>
                    <a:solidFill>
                      <a:srgbClr val="DCE8F8"/>
                    </a:solidFill>
                  </a:tcPr>
                </a:tc>
              </a:tr>
            </a:tbl>
          </a:graphicData>
        </a:graphic>
      </p:graphicFrame>
      <p:sp>
        <p:nvSpPr>
          <p:cNvPr id="8" name="Text 5"/>
          <p:cNvSpPr/>
          <p:nvPr/>
        </p:nvSpPr>
        <p:spPr>
          <a:xfrm>
            <a:off x="812800" y="4805065"/>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160"/>
                </a:solidFill>
                <a:latin typeface="IBM Plex Sans" pitchFamily="34" charset="0"/>
                <a:ea typeface="IBM Plex Sans" pitchFamily="34" charset="-122"/>
                <a:cs typeface="IBM Plex Sans" pitchFamily="34" charset="-120"/>
              </a:rPr>
              <a:t>The vendor signs nothing, so it cannot decline to. Shared limit: one trusted decider in v1 — a dishonest verdict is detectable, not prevented.</a:t>
            </a:r>
            <a:endParaRPr lang="en-US" sz="14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Checked against each project's public repository or the ERC text, 2026-10-02 · README "How Fermata compares"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2A6FC4"/>
                </a:solidFill>
                <a:latin typeface="Space Grotesk" pitchFamily="34" charset="0"/>
                <a:ea typeface="Space Grotesk" pitchFamily="34" charset="-122"/>
                <a:cs typeface="Space Grotesk" pitchFamily="34" charset="-120"/>
              </a:rPr>
              <a:t>BUSINESS MODEL AND GO-TO-MARKET</a:t>
            </a:r>
            <a:endParaRPr lang="en-US" sz="1400" dirty="0"/>
          </a:p>
        </p:txBody>
      </p:sp>
      <p:sp>
        <p:nvSpPr>
          <p:cNvPr id="3" name="Text 1"/>
          <p:cNvSpPr/>
          <p:nvPr>
            <p:ph type="title"/>
          </p:nvPr>
        </p:nvSpPr>
        <p:spPr>
          <a:xfrm>
            <a:off x="812800" y="11632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826"/>
                </a:solidFill>
                <a:latin typeface="Space Grotesk" pitchFamily="34" charset="0"/>
                <a:ea typeface="Space Grotesk" pitchFamily="34" charset="-122"/>
                <a:cs typeface="Space Grotesk" pitchFamily="34" charset="-120"/>
              </a:rPr>
              <a:t>Paid only when the vendor gets paid</a:t>
            </a:r>
            <a:endParaRPr lang="en-US" sz="3600" dirty="0"/>
          </a:p>
        </p:txBody>
      </p:sp>
      <p:sp>
        <p:nvSpPr>
          <p:cNvPr id="4" name="Text 2"/>
          <p:cNvSpPr/>
          <p:nvPr/>
        </p:nvSpPr>
        <p:spPr>
          <a:xfrm>
            <a:off x="812800" y="3628529"/>
            <a:ext cx="3662680" cy="1295400"/>
          </a:xfrm>
          <a:prstGeom prst="rect">
            <a:avLst/>
          </a:prstGeom>
          <a:noFill/>
          <a:ln/>
        </p:spPr>
        <p:txBody>
          <a:bodyPr wrap="square" lIns="0" tIns="0" rIns="0" bIns="0" rtlCol="0" anchor="t">
            <a:normAutofit/>
          </a:bodyPr>
          <a:lstStyle/>
          <a:p>
            <a:pPr algn="l" indent="0" marL="0">
              <a:lnSpc>
                <a:spcPts val="10000"/>
              </a:lnSpc>
              <a:buNone/>
            </a:pPr>
            <a:r>
              <a:rPr lang="en-US" sz="10000" b="1" spc="-300" kern="0" dirty="0">
                <a:solidFill>
                  <a:srgbClr val="2A6FC4"/>
                </a:solidFill>
                <a:latin typeface="Space Grotesk" pitchFamily="34" charset="0"/>
                <a:ea typeface="Space Grotesk" pitchFamily="34" charset="-122"/>
                <a:cs typeface="Space Grotesk" pitchFamily="34" charset="-120"/>
              </a:rPr>
              <a:t>0.5 %</a:t>
            </a:r>
            <a:endParaRPr lang="en-US" sz="10000" dirty="0"/>
          </a:p>
        </p:txBody>
      </p:sp>
      <p:sp>
        <p:nvSpPr>
          <p:cNvPr id="5" name="Text 3"/>
          <p:cNvSpPr/>
          <p:nvPr/>
        </p:nvSpPr>
        <p:spPr>
          <a:xfrm>
            <a:off x="812800" y="4974729"/>
            <a:ext cx="366268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2B3445"/>
                </a:solidFill>
                <a:latin typeface="IBM Plex Sans" pitchFamily="34" charset="0"/>
                <a:ea typeface="IBM Plex Sans" pitchFamily="34" charset="-122"/>
                <a:cs typeface="IBM Plex Sans" pitchFamily="34" charset="-120"/>
              </a:rPr>
              <a:t>fee on released payments, set on-chain (50 bps). Nothing on refunds.</a:t>
            </a:r>
            <a:endParaRPr lang="en-US" sz="1600" dirty="0"/>
          </a:p>
        </p:txBody>
      </p:sp>
      <p:sp>
        <p:nvSpPr>
          <p:cNvPr id="6" name="Shape 4"/>
          <p:cNvSpPr/>
          <p:nvPr/>
        </p:nvSpPr>
        <p:spPr>
          <a:xfrm>
            <a:off x="4787900" y="3106688"/>
            <a:ext cx="0" cy="860971"/>
          </a:xfrm>
          <a:prstGeom prst="line">
            <a:avLst/>
          </a:prstGeom>
          <a:noFill/>
          <a:ln w="25400">
            <a:solidFill>
              <a:srgbClr val="2A6FC4"/>
            </a:solidFill>
            <a:prstDash val="solid"/>
          </a:ln>
        </p:spPr>
      </p:sp>
      <p:sp>
        <p:nvSpPr>
          <p:cNvPr id="7" name="Text 5"/>
          <p:cNvSpPr/>
          <p:nvPr/>
        </p:nvSpPr>
        <p:spPr>
          <a:xfrm>
            <a:off x="4978400" y="3132088"/>
            <a:ext cx="6592824"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826"/>
                </a:solidFill>
                <a:latin typeface="Space Grotesk" pitchFamily="34" charset="0"/>
                <a:ea typeface="Space Grotesk" pitchFamily="34" charset="-122"/>
                <a:cs typeface="Space Grotesk" pitchFamily="34" charset="-120"/>
              </a:rPr>
              <a:t>First customers</a:t>
            </a:r>
            <a:endParaRPr lang="en-US" sz="1800" dirty="0"/>
          </a:p>
        </p:txBody>
      </p:sp>
      <p:sp>
        <p:nvSpPr>
          <p:cNvPr id="8" name="Text 6"/>
          <p:cNvSpPr/>
          <p:nvPr/>
        </p:nvSpPr>
        <p:spPr>
          <a:xfrm>
            <a:off x="4978400" y="3444478"/>
            <a:ext cx="659282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160"/>
                </a:solidFill>
                <a:latin typeface="IBM Plex Sans" pitchFamily="34" charset="0"/>
                <a:ea typeface="IBM Plex Sans" pitchFamily="34" charset="-122"/>
                <a:cs typeface="IBM Plex Sans" pitchFamily="34" charset="-120"/>
              </a:rPr>
              <a:t>API vendors already selling to agents over MPP or x402: data, search, inference, tools priced per call.</a:t>
            </a:r>
            <a:endParaRPr lang="en-US" sz="1400" dirty="0"/>
          </a:p>
        </p:txBody>
      </p:sp>
      <p:sp>
        <p:nvSpPr>
          <p:cNvPr id="9" name="Shape 7"/>
          <p:cNvSpPr/>
          <p:nvPr/>
        </p:nvSpPr>
        <p:spPr>
          <a:xfrm>
            <a:off x="4787900" y="4145459"/>
            <a:ext cx="0" cy="860971"/>
          </a:xfrm>
          <a:prstGeom prst="line">
            <a:avLst/>
          </a:prstGeom>
          <a:noFill/>
          <a:ln w="25400">
            <a:solidFill>
              <a:srgbClr val="2A6FC4"/>
            </a:solidFill>
            <a:prstDash val="solid"/>
          </a:ln>
        </p:spPr>
      </p:sp>
      <p:sp>
        <p:nvSpPr>
          <p:cNvPr id="10" name="Text 8"/>
          <p:cNvSpPr/>
          <p:nvPr/>
        </p:nvSpPr>
        <p:spPr>
          <a:xfrm>
            <a:off x="4978400" y="4170859"/>
            <a:ext cx="6592824"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826"/>
                </a:solidFill>
                <a:latin typeface="Space Grotesk" pitchFamily="34" charset="0"/>
                <a:ea typeface="Space Grotesk" pitchFamily="34" charset="-122"/>
                <a:cs typeface="Space Grotesk" pitchFamily="34" charset="-120"/>
              </a:rPr>
              <a:t>Wedge</a:t>
            </a:r>
            <a:endParaRPr lang="en-US" sz="1800" dirty="0"/>
          </a:p>
        </p:txBody>
      </p:sp>
      <p:sp>
        <p:nvSpPr>
          <p:cNvPr id="11" name="Text 9"/>
          <p:cNvSpPr/>
          <p:nvPr/>
        </p:nvSpPr>
        <p:spPr>
          <a:xfrm>
            <a:off x="4978400" y="4483249"/>
            <a:ext cx="659282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160"/>
                </a:solidFill>
                <a:latin typeface="IBM Plex Sans" pitchFamily="34" charset="0"/>
                <a:ea typeface="IBM Plex Sans" pitchFamily="34" charset="-122"/>
                <a:cs typeface="IBM Plex Sans" pitchFamily="34" charset="-120"/>
              </a:rPr>
              <a:t>Chargeback-grade trust without building it. Agents can safely buy from a vendor they've never seen; the vendor's API doesn't change.</a:t>
            </a:r>
            <a:endParaRPr lang="en-US" sz="1400" dirty="0"/>
          </a:p>
        </p:txBody>
      </p:sp>
      <p:sp>
        <p:nvSpPr>
          <p:cNvPr id="12" name="Shape 10"/>
          <p:cNvSpPr/>
          <p:nvPr/>
        </p:nvSpPr>
        <p:spPr>
          <a:xfrm>
            <a:off x="4787900" y="5184229"/>
            <a:ext cx="0" cy="860971"/>
          </a:xfrm>
          <a:prstGeom prst="line">
            <a:avLst/>
          </a:prstGeom>
          <a:noFill/>
          <a:ln w="25400">
            <a:solidFill>
              <a:srgbClr val="2A6FC4"/>
            </a:solidFill>
            <a:prstDash val="solid"/>
          </a:ln>
        </p:spPr>
      </p:sp>
      <p:sp>
        <p:nvSpPr>
          <p:cNvPr id="13" name="Text 11"/>
          <p:cNvSpPr/>
          <p:nvPr/>
        </p:nvSpPr>
        <p:spPr>
          <a:xfrm>
            <a:off x="4978400" y="5209629"/>
            <a:ext cx="6592824"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826"/>
                </a:solidFill>
                <a:latin typeface="Space Grotesk" pitchFamily="34" charset="0"/>
                <a:ea typeface="Space Grotesk" pitchFamily="34" charset="-122"/>
                <a:cs typeface="Space Grotesk" pitchFamily="34" charset="-120"/>
              </a:rPr>
              <a:t>Distribution</a:t>
            </a:r>
            <a:endParaRPr lang="en-US" sz="1800" dirty="0"/>
          </a:p>
        </p:txBody>
      </p:sp>
      <p:sp>
        <p:nvSpPr>
          <p:cNvPr id="14" name="Text 12"/>
          <p:cNvSpPr/>
          <p:nvPr/>
        </p:nvSpPr>
        <p:spPr>
          <a:xfrm>
            <a:off x="4978400" y="5522020"/>
            <a:ext cx="659282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160"/>
                </a:solidFill>
                <a:latin typeface="IBM Plex Sans" pitchFamily="34" charset="0"/>
                <a:ea typeface="IBM Plex Sans" pitchFamily="34" charset="-122"/>
                <a:cs typeface="IBM Plex Sans" pitchFamily="34" charset="-120"/>
              </a:rPr>
              <a:t>Where agents already pay: the </a:t>
            </a:r>
            <a:r>
              <a:rPr lang="en-US" sz="1400" dirty="0">
                <a:solidFill>
                  <a:srgbClr val="1E5AA6"/>
                </a:solidFill>
                <a:latin typeface="IBM Plex Sans" pitchFamily="34" charset="0"/>
                <a:ea typeface="IBM Plex Sans" pitchFamily="34" charset="-122"/>
                <a:cs typeface="IBM Plex Sans" pitchFamily="34" charset="-120"/>
              </a:rPr>
              <a:t>fermata</a:t>
            </a:r>
            <a:r>
              <a:rPr lang="en-US" sz="1400" dirty="0">
                <a:solidFill>
                  <a:srgbClr val="4A5160"/>
                </a:solidFill>
                <a:latin typeface="IBM Plex Sans" pitchFamily="34" charset="0"/>
                <a:ea typeface="IBM Plex Sans" pitchFamily="34" charset="-122"/>
                <a:cs typeface="IBM Plex Sans" pitchFamily="34" charset="-120"/>
              </a:rPr>
              <a:t> method in an mppx client, one </a:t>
            </a:r>
            <a:r>
              <a:rPr lang="en-US" sz="1400" dirty="0">
                <a:solidFill>
                  <a:srgbClr val="1E5AA6"/>
                </a:solidFill>
                <a:latin typeface="IBM Plex Sans" pitchFamily="34" charset="0"/>
                <a:ea typeface="IBM Plex Sans" pitchFamily="34" charset="-122"/>
                <a:cs typeface="IBM Plex Sans" pitchFamily="34" charset="-120"/>
              </a:rPr>
              <a:t>claude mcp add</a:t>
            </a:r>
            <a:r>
              <a:rPr lang="en-US" sz="1400" dirty="0">
                <a:solidFill>
                  <a:srgbClr val="4A5160"/>
                </a:solidFill>
                <a:latin typeface="IBM Plex Sans" pitchFamily="34" charset="0"/>
                <a:ea typeface="IBM Plex Sans" pitchFamily="34" charset="-122"/>
                <a:cs typeface="IBM Plex Sans" pitchFamily="34" charset="-120"/>
              </a:rPr>
              <a:t> for MCP agents.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EC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2A6FC4"/>
                </a:solidFill>
                <a:latin typeface="Space Grotesk" pitchFamily="34" charset="0"/>
                <a:ea typeface="Space Grotesk" pitchFamily="34" charset="-122"/>
                <a:cs typeface="Space Grotesk" pitchFamily="34" charset="-120"/>
              </a:rPr>
              <a:t>UNIT ECONOMICS AT SCALE</a:t>
            </a:r>
            <a:endParaRPr lang="en-US" sz="1400" dirty="0"/>
          </a:p>
        </p:txBody>
      </p:sp>
      <p:sp>
        <p:nvSpPr>
          <p:cNvPr id="3" name="Text 1"/>
          <p:cNvSpPr/>
          <p:nvPr>
            <p:ph type="title"/>
          </p:nvPr>
        </p:nvSpPr>
        <p:spPr>
          <a:xfrm>
            <a:off x="812800" y="11632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1826"/>
                </a:solidFill>
                <a:latin typeface="Space Grotesk" pitchFamily="34" charset="0"/>
                <a:ea typeface="Space Grotesk" pitchFamily="34" charset="-122"/>
                <a:cs typeface="Space Grotesk" pitchFamily="34" charset="-120"/>
              </a:rPr>
              <a:t>Prove a random sample, not every call</a:t>
            </a:r>
            <a:endParaRPr lang="en-US" sz="3600" dirty="0"/>
          </a:p>
        </p:txBody>
      </p:sp>
      <p:sp>
        <p:nvSpPr>
          <p:cNvPr id="4" name="Shape 2"/>
          <p:cNvSpPr/>
          <p:nvPr/>
        </p:nvSpPr>
        <p:spPr>
          <a:xfrm>
            <a:off x="812800" y="2557810"/>
            <a:ext cx="3386634" cy="2143720"/>
          </a:xfrm>
          <a:prstGeom prst="roundRect">
            <a:avLst>
              <a:gd name="adj" fmla="val 5924"/>
            </a:avLst>
          </a:prstGeom>
          <a:solidFill>
            <a:srgbClr val="F7F8FA"/>
          </a:solidFill>
          <a:ln/>
        </p:spPr>
      </p:sp>
      <p:sp>
        <p:nvSpPr>
          <p:cNvPr id="5" name="Text 3"/>
          <p:cNvSpPr/>
          <p:nvPr/>
        </p:nvSpPr>
        <p:spPr>
          <a:xfrm>
            <a:off x="1066800" y="2811810"/>
            <a:ext cx="296499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170"/>
                </a:solidFill>
                <a:latin typeface="IBM Plex Sans" pitchFamily="34" charset="0"/>
                <a:ea typeface="IBM Plex Sans" pitchFamily="34" charset="-122"/>
                <a:cs typeface="IBM Plex Sans" pitchFamily="34" charset="-120"/>
              </a:rPr>
              <a:t>Today: 66 MB × $0.09/GB</a:t>
            </a:r>
            <a:endParaRPr lang="en-US" sz="1300" dirty="0"/>
          </a:p>
        </p:txBody>
      </p:sp>
      <p:sp>
        <p:nvSpPr>
          <p:cNvPr id="6" name="Text 4"/>
          <p:cNvSpPr/>
          <p:nvPr/>
        </p:nvSpPr>
        <p:spPr>
          <a:xfrm>
            <a:off x="1066800" y="3119140"/>
            <a:ext cx="2964993"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21826"/>
                </a:solidFill>
                <a:latin typeface="Space Grotesk" pitchFamily="34" charset="0"/>
                <a:ea typeface="Space Grotesk" pitchFamily="34" charset="-122"/>
                <a:cs typeface="Space Grotesk" pitchFamily="34" charset="-120"/>
              </a:rPr>
              <a:t>$0.006</a:t>
            </a:r>
            <a:endParaRPr lang="en-US" sz="4400" dirty="0"/>
          </a:p>
        </p:txBody>
      </p:sp>
      <p:sp>
        <p:nvSpPr>
          <p:cNvPr id="7" name="Text 5"/>
          <p:cNvSpPr/>
          <p:nvPr/>
        </p:nvSpPr>
        <p:spPr>
          <a:xfrm>
            <a:off x="1066800" y="3754140"/>
            <a:ext cx="2964993"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160"/>
                </a:solidFill>
                <a:latin typeface="IBM Plex Sans" pitchFamily="34" charset="0"/>
                <a:ea typeface="IBM Plex Sans" pitchFamily="34" charset="-122"/>
                <a:cs typeface="IBM Plex Sans" pitchFamily="34" charset="-120"/>
              </a:rPr>
              <a:t>per proof: ≈ 1 s of MPC and 66 MB of traffic. Too much for a $0.01 call if every call is proved.</a:t>
            </a:r>
            <a:endParaRPr lang="en-US" sz="1300" dirty="0"/>
          </a:p>
        </p:txBody>
      </p:sp>
      <p:sp>
        <p:nvSpPr>
          <p:cNvPr id="8" name="Shape 6"/>
          <p:cNvSpPr/>
          <p:nvPr/>
        </p:nvSpPr>
        <p:spPr>
          <a:xfrm>
            <a:off x="4402634" y="2557810"/>
            <a:ext cx="3386683" cy="2143720"/>
          </a:xfrm>
          <a:prstGeom prst="roundRect">
            <a:avLst>
              <a:gd name="adj" fmla="val 5924"/>
            </a:avLst>
          </a:prstGeom>
          <a:solidFill>
            <a:srgbClr val="F7F8FA"/>
          </a:solidFill>
          <a:ln/>
        </p:spPr>
      </p:sp>
      <p:sp>
        <p:nvSpPr>
          <p:cNvPr id="9" name="Text 7"/>
          <p:cNvSpPr/>
          <p:nvPr/>
        </p:nvSpPr>
        <p:spPr>
          <a:xfrm>
            <a:off x="4656634" y="2811810"/>
            <a:ext cx="296504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170"/>
                </a:solidFill>
                <a:latin typeface="IBM Plex Sans" pitchFamily="34" charset="0"/>
                <a:ea typeface="IBM Plex Sans" pitchFamily="34" charset="-122"/>
                <a:cs typeface="IBM Plex Sans" pitchFamily="34" charset="-120"/>
              </a:rPr>
              <a:t>Sampled proving at 5 %</a:t>
            </a:r>
            <a:endParaRPr lang="en-US" sz="1300" dirty="0"/>
          </a:p>
        </p:txBody>
      </p:sp>
      <p:sp>
        <p:nvSpPr>
          <p:cNvPr id="10" name="Text 8"/>
          <p:cNvSpPr/>
          <p:nvPr/>
        </p:nvSpPr>
        <p:spPr>
          <a:xfrm>
            <a:off x="4656634" y="3119140"/>
            <a:ext cx="2965044"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2A6FC4"/>
                </a:solidFill>
                <a:latin typeface="Space Grotesk" pitchFamily="34" charset="0"/>
                <a:ea typeface="Space Grotesk" pitchFamily="34" charset="-122"/>
                <a:cs typeface="Space Grotesk" pitchFamily="34" charset="-120"/>
              </a:rPr>
              <a:t>$0.0003</a:t>
            </a:r>
            <a:endParaRPr lang="en-US" sz="4400" dirty="0"/>
          </a:p>
        </p:txBody>
      </p:sp>
      <p:sp>
        <p:nvSpPr>
          <p:cNvPr id="11" name="Text 9"/>
          <p:cNvSpPr/>
          <p:nvPr/>
        </p:nvSpPr>
        <p:spPr>
          <a:xfrm>
            <a:off x="4656634" y="3754140"/>
            <a:ext cx="296504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160"/>
                </a:solidFill>
                <a:latin typeface="IBM Plex Sans" pitchFamily="34" charset="0"/>
                <a:ea typeface="IBM Plex Sans" pitchFamily="34" charset="-122"/>
                <a:cs typeface="IBM Plex Sans" pitchFamily="34" charset="-120"/>
              </a:rPr>
              <a:t>per call. The vendor can't tell which calls are checked.</a:t>
            </a:r>
            <a:endParaRPr lang="en-US" sz="1300" dirty="0"/>
          </a:p>
        </p:txBody>
      </p:sp>
      <p:sp>
        <p:nvSpPr>
          <p:cNvPr id="12" name="Shape 10"/>
          <p:cNvSpPr/>
          <p:nvPr/>
        </p:nvSpPr>
        <p:spPr>
          <a:xfrm>
            <a:off x="7992517" y="2557810"/>
            <a:ext cx="3386683" cy="2143720"/>
          </a:xfrm>
          <a:prstGeom prst="roundRect">
            <a:avLst>
              <a:gd name="adj" fmla="val 5924"/>
            </a:avLst>
          </a:prstGeom>
          <a:solidFill>
            <a:srgbClr val="F7F8FA"/>
          </a:solidFill>
          <a:ln/>
        </p:spPr>
      </p:sp>
      <p:sp>
        <p:nvSpPr>
          <p:cNvPr id="13" name="Text 11"/>
          <p:cNvSpPr/>
          <p:nvPr/>
        </p:nvSpPr>
        <p:spPr>
          <a:xfrm>
            <a:off x="8246517" y="2811810"/>
            <a:ext cx="296504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170"/>
                </a:solidFill>
                <a:latin typeface="IBM Plex Sans" pitchFamily="34" charset="0"/>
                <a:ea typeface="IBM Plex Sans" pitchFamily="34" charset="-122"/>
                <a:cs typeface="IBM Plex Sans" pitchFamily="34" charset="-120"/>
              </a:rPr>
              <a:t>Still caught</a:t>
            </a:r>
            <a:endParaRPr lang="en-US" sz="1300" dirty="0"/>
          </a:p>
        </p:txBody>
      </p:sp>
      <p:sp>
        <p:nvSpPr>
          <p:cNvPr id="14" name="Text 12"/>
          <p:cNvSpPr/>
          <p:nvPr/>
        </p:nvSpPr>
        <p:spPr>
          <a:xfrm>
            <a:off x="8246517" y="3119140"/>
            <a:ext cx="2965044"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21826"/>
                </a:solidFill>
                <a:latin typeface="Space Grotesk" pitchFamily="34" charset="0"/>
                <a:ea typeface="Space Grotesk" pitchFamily="34" charset="-122"/>
                <a:cs typeface="Space Grotesk" pitchFamily="34" charset="-120"/>
              </a:rPr>
              <a:t>99.3 %</a:t>
            </a:r>
            <a:endParaRPr lang="en-US" sz="4400" dirty="0"/>
          </a:p>
        </p:txBody>
      </p:sp>
      <p:sp>
        <p:nvSpPr>
          <p:cNvPr id="15" name="Text 13"/>
          <p:cNvSpPr/>
          <p:nvPr/>
        </p:nvSpPr>
        <p:spPr>
          <a:xfrm>
            <a:off x="8246517" y="3754140"/>
            <a:ext cx="296504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160"/>
                </a:solidFill>
                <a:latin typeface="IBM Plex Sans" pitchFamily="34" charset="0"/>
                <a:ea typeface="IBM Plex Sans" pitchFamily="34" charset="-122"/>
                <a:cs typeface="IBM Plex Sans" pitchFamily="34" charset="-120"/>
              </a:rPr>
              <a:t>chance a vendor failing 10 % of calls is caught within 1,000 calls.</a:t>
            </a:r>
            <a:endParaRPr lang="en-US" sz="1300" dirty="0"/>
          </a:p>
        </p:txBody>
      </p:sp>
      <p:sp>
        <p:nvSpPr>
          <p:cNvPr id="16" name="Text 14"/>
          <p:cNvSpPr/>
          <p:nvPr/>
        </p:nvSpPr>
        <p:spPr>
          <a:xfrm>
            <a:off x="812800" y="55931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160"/>
                </a:solidFill>
                <a:latin typeface="IBM Plex Sans" pitchFamily="34" charset="0"/>
                <a:ea typeface="IBM Plex Sans" pitchFamily="34" charset="-122"/>
                <a:cs typeface="IBM Plex Sans" pitchFamily="34" charset="-120"/>
              </a:rPr>
              <a:t>Next: session escrow (one hold for many calls) and prove-on-dispute. v1 proves every call to show the mechanism.</a:t>
            </a:r>
            <a:endParaRPr lang="en-US" sz="14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Assumption: $0.09 per GB of traffic. Measured: 65.9 MB, ≈ 1 s per proof (FACTS §15.4–15.6). Caught = 1 − (1 − 0.05 × 0.10)^1000.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826"/>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7FB2F0"/>
                </a:solidFill>
                <a:latin typeface="Space Grotesk" pitchFamily="34" charset="0"/>
                <a:ea typeface="Space Grotesk" pitchFamily="34" charset="-122"/>
                <a:cs typeface="Space Grotesk" pitchFamily="34" charset="-120"/>
              </a:rPr>
              <a:t>TRUST, ROADMAP AND THE ASK</a:t>
            </a:r>
            <a:endParaRPr lang="en-US" sz="1400" dirty="0"/>
          </a:p>
        </p:txBody>
      </p:sp>
      <p:sp>
        <p:nvSpPr>
          <p:cNvPr id="3" name="Text 1"/>
          <p:cNvSpPr/>
          <p:nvPr>
            <p:ph type="title"/>
          </p:nvPr>
        </p:nvSpPr>
        <p:spPr>
          <a:xfrm>
            <a:off x="812800" y="116329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3EE"/>
                </a:solidFill>
                <a:latin typeface="Space Grotesk" pitchFamily="34" charset="0"/>
                <a:ea typeface="Space Grotesk" pitchFamily="34" charset="-122"/>
                <a:cs typeface="Space Grotesk" pitchFamily="34" charset="-120"/>
              </a:rPr>
              <a:t>Verifiable today; independent adjudication next</a:t>
            </a:r>
            <a:endParaRPr lang="en-US" sz="3600" dirty="0"/>
          </a:p>
        </p:txBody>
      </p:sp>
      <p:sp>
        <p:nvSpPr>
          <p:cNvPr id="4" name="Text 2"/>
          <p:cNvSpPr/>
          <p:nvPr/>
        </p:nvSpPr>
        <p:spPr>
          <a:xfrm>
            <a:off x="812800" y="3114129"/>
            <a:ext cx="5284724"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3EE"/>
                </a:solidFill>
                <a:latin typeface="Space Grotesk" pitchFamily="34" charset="0"/>
                <a:ea typeface="Space Grotesk" pitchFamily="34" charset="-122"/>
                <a:cs typeface="Space Grotesk" pitchFamily="34" charset="-120"/>
              </a:rPr>
              <a:t>What v1 trusts</a:t>
            </a:r>
            <a:endParaRPr lang="en-US" sz="1800" dirty="0"/>
          </a:p>
        </p:txBody>
      </p:sp>
      <p:sp>
        <p:nvSpPr>
          <p:cNvPr id="5" name="Text 3"/>
          <p:cNvSpPr/>
          <p:nvPr/>
        </p:nvSpPr>
        <p:spPr>
          <a:xfrm>
            <a:off x="812800" y="3464620"/>
            <a:ext cx="5284724"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C9CED8"/>
                </a:solidFill>
                <a:latin typeface="IBM Plex Sans" pitchFamily="34" charset="0"/>
                <a:ea typeface="IBM Plex Sans" pitchFamily="34" charset="-122"/>
                <a:cs typeface="IBM Plex Sans" pitchFamily="34" charset="-120"/>
              </a:rPr>
              <a:t>One Fermata verifier signs each verdict, and the notary is ours. Every verdict points at a proof anyone can re-verify offline, so a dishonest verdict is detectable, not prevented.</a:t>
            </a:r>
            <a:endParaRPr lang="en-US" sz="1400" dirty="0"/>
          </a:p>
        </p:txBody>
      </p:sp>
      <p:sp>
        <p:nvSpPr>
          <p:cNvPr id="6" name="Text 4"/>
          <p:cNvSpPr/>
          <p:nvPr/>
        </p:nvSpPr>
        <p:spPr>
          <a:xfrm>
            <a:off x="6248400" y="3114129"/>
            <a:ext cx="5284724"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3EE"/>
                </a:solidFill>
                <a:latin typeface="Space Grotesk" pitchFamily="34" charset="0"/>
                <a:ea typeface="Space Grotesk" pitchFamily="34" charset="-122"/>
                <a:cs typeface="Space Grotesk" pitchFamily="34" charset="-120"/>
              </a:rPr>
              <a:t>Roadmap</a:t>
            </a:r>
            <a:endParaRPr lang="en-US" sz="1800" dirty="0"/>
          </a:p>
        </p:txBody>
      </p:sp>
      <p:sp>
        <p:nvSpPr>
          <p:cNvPr id="7" name="Text 5"/>
          <p:cNvSpPr/>
          <p:nvPr/>
        </p:nvSpPr>
        <p:spPr>
          <a:xfrm>
            <a:off x="6326632" y="3464620"/>
            <a:ext cx="5198872" cy="1056481"/>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C9CED8"/>
                </a:solidFill>
                <a:latin typeface="IBM Plex Sans" pitchFamily="34" charset="0"/>
                <a:ea typeface="IBM Plex Sans" pitchFamily="34" charset="-122"/>
                <a:cs typeface="IBM Plex Sans" pitchFamily="34" charset="-120"/>
              </a:rPr>
              <a:t>Vendor-chosen verifiers, N-of-M quorum</a:t>
            </a:r>
            <a:endParaRPr lang="en-US" sz="1400" dirty="0"/>
          </a:p>
          <a:p>
            <a:pPr algn="l" marL="175768" indent="-175768">
              <a:lnSpc>
                <a:spcPts val="2030"/>
              </a:lnSpc>
              <a:buSzPct val="100000"/>
              <a:buChar char="•"/>
            </a:pPr>
            <a:r>
              <a:rPr lang="en-US" sz="1400" dirty="0">
                <a:solidFill>
                  <a:srgbClr val="C9CED8"/>
                </a:solidFill>
                <a:latin typeface="IBM Plex Sans" pitchFamily="34" charset="0"/>
                <a:ea typeface="IBM Plex Sans" pitchFamily="34" charset="-122"/>
                <a:cs typeface="IBM Plex Sans" pitchFamily="34" charset="-120"/>
              </a:rPr>
              <a:t>On-chain proof verification</a:t>
            </a:r>
            <a:endParaRPr lang="en-US" sz="1400" dirty="0"/>
          </a:p>
          <a:p>
            <a:pPr algn="l" marL="175768" indent="-175768">
              <a:lnSpc>
                <a:spcPts val="2030"/>
              </a:lnSpc>
              <a:buSzPct val="100000"/>
              <a:buChar char="•"/>
            </a:pPr>
            <a:r>
              <a:rPr lang="en-US" sz="1400" dirty="0">
                <a:solidFill>
                  <a:srgbClr val="C9CED8"/>
                </a:solidFill>
                <a:latin typeface="IBM Plex Sans" pitchFamily="34" charset="0"/>
                <a:ea typeface="IBM Plex Sans" pitchFamily="34" charset="-122"/>
                <a:cs typeface="IBM Plex Sans" pitchFamily="34" charset="-120"/>
              </a:rPr>
              <a:t>Session escrow and sampled proving</a:t>
            </a:r>
            <a:endParaRPr lang="en-US" sz="1400" dirty="0"/>
          </a:p>
          <a:p>
            <a:pPr algn="l" marL="175768" indent="-175768">
              <a:lnSpc>
                <a:spcPts val="2030"/>
              </a:lnSpc>
              <a:buSzPct val="100000"/>
              <a:buChar char="•"/>
            </a:pPr>
            <a:r>
              <a:rPr lang="en-US" sz="1400" dirty="0">
                <a:solidFill>
                  <a:srgbClr val="C9CED8"/>
                </a:solidFill>
                <a:latin typeface="IBM Plex Sans" pitchFamily="34" charset="0"/>
                <a:ea typeface="IBM Plex Sans" pitchFamily="34" charset="-122"/>
                <a:cs typeface="IBM Plex Sans" pitchFamily="34" charset="-120"/>
              </a:rPr>
              <a:t>Vendor-hosted gateways</a:t>
            </a:r>
            <a:endParaRPr lang="en-US" sz="1400" dirty="0"/>
          </a:p>
        </p:txBody>
      </p:sp>
      <p:sp>
        <p:nvSpPr>
          <p:cNvPr id="8" name="Text 6"/>
          <p:cNvSpPr/>
          <p:nvPr/>
        </p:nvSpPr>
        <p:spPr>
          <a:xfrm>
            <a:off x="812800" y="5481340"/>
            <a:ext cx="997545"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4F3EE"/>
                </a:solidFill>
                <a:latin typeface="Space Grotesk" pitchFamily="34" charset="0"/>
                <a:ea typeface="Space Grotesk" pitchFamily="34" charset="-122"/>
                <a:cs typeface="Space Grotesk" pitchFamily="34" charset="-120"/>
              </a:rPr>
              <a:t>The ask</a:t>
            </a:r>
            <a:endParaRPr lang="en-US" sz="1800" dirty="0"/>
          </a:p>
        </p:txBody>
      </p:sp>
      <p:sp>
        <p:nvSpPr>
          <p:cNvPr id="9" name="Text 7"/>
          <p:cNvSpPr/>
          <p:nvPr/>
        </p:nvSpPr>
        <p:spPr>
          <a:xfrm>
            <a:off x="1810345" y="5440710"/>
            <a:ext cx="1734096" cy="401290"/>
          </a:xfrm>
          <a:prstGeom prst="roundRect">
            <a:avLst>
              <a:gd name="adj" fmla="val 50000"/>
            </a:avLst>
          </a:prstGeom>
          <a:solidFill>
            <a:srgbClr val="7FB2F0"/>
          </a:solidFill>
          <a:ln/>
        </p:spPr>
        <p:txBody>
          <a:bodyPr wrap="none" lIns="0" tIns="0" rIns="0" bIns="0" rtlCol="0" anchor="ctr">
            <a:normAutofit/>
          </a:bodyPr>
          <a:lstStyle/>
          <a:p>
            <a:pPr algn="ctr" indent="0" marL="0">
              <a:lnSpc>
                <a:spcPts val="1960"/>
              </a:lnSpc>
              <a:buNone/>
            </a:pPr>
            <a:r>
              <a:rPr lang="en-US" sz="1400" dirty="0">
                <a:solidFill>
                  <a:srgbClr val="121826"/>
                </a:solidFill>
                <a:latin typeface="IBM Plex Sans" pitchFamily="34" charset="0"/>
                <a:ea typeface="IBM Plex Sans" pitchFamily="34" charset="-122"/>
                <a:cs typeface="IBM Plex Sans" pitchFamily="34" charset="-120"/>
              </a:rPr>
              <a:t>Pilot API vendors</a:t>
            </a:r>
            <a:endParaRPr lang="en-US" sz="1400" dirty="0"/>
          </a:p>
        </p:txBody>
      </p:sp>
      <p:sp>
        <p:nvSpPr>
          <p:cNvPr id="10" name="Text 8"/>
          <p:cNvSpPr/>
          <p:nvPr/>
        </p:nvSpPr>
        <p:spPr>
          <a:xfrm>
            <a:off x="3696841" y="5440710"/>
            <a:ext cx="2127052" cy="401290"/>
          </a:xfrm>
          <a:prstGeom prst="roundRect">
            <a:avLst>
              <a:gd name="adj" fmla="val 50000"/>
            </a:avLst>
          </a:prstGeom>
          <a:solidFill>
            <a:srgbClr val="7FB2F0"/>
          </a:solidFill>
          <a:ln/>
        </p:spPr>
        <p:txBody>
          <a:bodyPr wrap="none" lIns="0" tIns="0" rIns="0" bIns="0" rtlCol="0" anchor="ctr">
            <a:normAutofit/>
          </a:bodyPr>
          <a:lstStyle/>
          <a:p>
            <a:pPr algn="ctr" indent="0" marL="0">
              <a:lnSpc>
                <a:spcPts val="1960"/>
              </a:lnSpc>
              <a:buNone/>
            </a:pPr>
            <a:r>
              <a:rPr lang="en-US" sz="1400" dirty="0">
                <a:solidFill>
                  <a:srgbClr val="121826"/>
                </a:solidFill>
                <a:latin typeface="IBM Plex Sans" pitchFamily="34" charset="0"/>
                <a:ea typeface="IBM Plex Sans" pitchFamily="34" charset="-122"/>
                <a:cs typeface="IBM Plex Sans" pitchFamily="34" charset="-120"/>
              </a:rPr>
              <a:t>Agent builders to try it</a:t>
            </a:r>
            <a:endParaRPr lang="en-US" sz="1400" dirty="0"/>
          </a:p>
        </p:txBody>
      </p:sp>
      <p:sp>
        <p:nvSpPr>
          <p:cNvPr id="11" name="Text 9"/>
          <p:cNvSpPr/>
          <p:nvPr/>
        </p:nvSpPr>
        <p:spPr>
          <a:xfrm>
            <a:off x="5976293" y="5440710"/>
            <a:ext cx="1599158" cy="401290"/>
          </a:xfrm>
          <a:prstGeom prst="roundRect">
            <a:avLst>
              <a:gd name="adj" fmla="val 50000"/>
            </a:avLst>
          </a:prstGeom>
          <a:solidFill>
            <a:srgbClr val="7FB2F0"/>
          </a:solidFill>
          <a:ln/>
        </p:spPr>
        <p:txBody>
          <a:bodyPr wrap="none" lIns="0" tIns="0" rIns="0" bIns="0" rtlCol="0" anchor="ctr">
            <a:normAutofit/>
          </a:bodyPr>
          <a:lstStyle/>
          <a:p>
            <a:pPr algn="ctr" indent="0" marL="0">
              <a:lnSpc>
                <a:spcPts val="1960"/>
              </a:lnSpc>
              <a:buNone/>
            </a:pPr>
            <a:r>
              <a:rPr lang="en-US" sz="1400" dirty="0">
                <a:solidFill>
                  <a:srgbClr val="121826"/>
                </a:solidFill>
                <a:latin typeface="IBM Plex Sans" pitchFamily="34" charset="0"/>
                <a:ea typeface="IBM Plex Sans" pitchFamily="34" charset="-122"/>
                <a:cs typeface="IBM Plex Sans" pitchFamily="34" charset="-120"/>
              </a:rPr>
              <a:t>The accelerator</a:t>
            </a:r>
            <a:endParaRPr lang="en-US" sz="14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B2"/>
                </a:solidFill>
                <a:latin typeface="IBM Plex Sans" pitchFamily="34" charset="0"/>
                <a:ea typeface="IBM Plex Sans" pitchFamily="34" charset="-122"/>
                <a:cs typeface="IBM Plex Sans" pitchFamily="34" charset="-120"/>
              </a:rPr>
              <a:t>Live: </a:t>
            </a:r>
            <a:r>
              <a:rPr lang="en-US" sz="1200" u="sng" dirty="0">
                <a:solidFill>
                  <a:srgbClr val="7FB2F0"/>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fermata-production-9378.up.railway.app</a:t>
            </a:r>
            <a:r>
              <a:rPr lang="en-US" sz="1200" dirty="0">
                <a:solidFill>
                  <a:srgbClr val="9AA3B2"/>
                </a:solidFill>
                <a:latin typeface="IBM Plex Sans" pitchFamily="34" charset="0"/>
                <a:ea typeface="IBM Plex Sans" pitchFamily="34" charset="-122"/>
                <a:cs typeface="IBM Plex Sans" pitchFamily="34" charset="-120"/>
              </a:rPr>
              <a:t> · github.com/bilgin-kocak/fermata · Testnet, unaudited</a:t>
            </a:r>
            <a:endParaRPr lang="en-US" sz="1200" dirty="0"/>
          </a:p>
        </p:txBody>
      </p:sp>
    </p:spTree>
  </p:cSld>
  <p:clrMapOvr>
    <a:masterClrMapping/>
  </p:clrMapOvr>
</p:sld>
</file>

<file path=ppt/theme/theme1.xml><?xml version="1.0" encoding="utf-8"?>
<a:theme xmlns:a="http://schemas.openxmlformats.org/drawingml/2006/main" name="Fermata — Pay on proof">
  <a:themeElements>
    <a:clrScheme name="Fermata — Pay on proof">
      <a:dk1>
        <a:srgbClr val="121826"/>
      </a:dk1>
      <a:lt1>
        <a:srgbClr val="F4F3EE"/>
      </a:lt1>
      <a:dk2>
        <a:srgbClr val="292E3A"/>
      </a:dk2>
      <a:lt2>
        <a:srgbClr val="BCBCBC"/>
      </a:lt2>
      <a:accent1>
        <a:srgbClr val="2A6FC4"/>
      </a:accent1>
      <a:accent2>
        <a:srgbClr val="7FB2F0"/>
      </a:accent2>
      <a:accent3>
        <a:srgbClr val="1E5AA6"/>
      </a:accent3>
      <a:accent4>
        <a:srgbClr val="9C4A0C"/>
      </a:accent4>
      <a:accent5>
        <a:srgbClr val="4A5160"/>
      </a:accent5>
      <a:accent6>
        <a:srgbClr val="C9CED8"/>
      </a:accent6>
      <a:hlink>
        <a:srgbClr val="0563C1"/>
      </a:hlink>
      <a:folHlink>
        <a:srgbClr val="954F72"/>
      </a:folHlink>
    </a:clrScheme>
    <a:fontScheme name="Fermata — Pay on proof">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Fermata — Pay on proof</dc:title>
  <dc:subject/>
  <dc:creator/>
  <cp:lastModifiedBy/>
  <cp:revision>1</cp:revision>
  <dcterms:created xsi:type="dcterms:W3CDTF">2026-10-06T16:59:00Z</dcterms:created>
  <dcterms:modified xsi:type="dcterms:W3CDTF">2026-10-06T16:59:00Z</dcterms:modified>
</cp:coreProperties>
</file>